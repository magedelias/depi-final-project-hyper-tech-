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4" r:id="rId9"/>
    <p:sldId id="263" r:id="rId10"/>
    <p:sldId id="265" r:id="rId11"/>
    <p:sldId id="266" r:id="rId12"/>
    <p:sldId id="268" r:id="rId13"/>
    <p:sldId id="270" r:id="rId14"/>
    <p:sldId id="269" r:id="rId15"/>
  </p:sldIdLst>
  <p:sldSz cx="12192000" cy="6858000"/>
  <p:notesSz cx="6858000" cy="9144000"/>
  <p:embeddedFontLst>
    <p:embeddedFont>
      <p:font typeface="Cambria" panose="02040503050406030204" pitchFamily="18" charset="0"/>
      <p:regular r:id="rId17"/>
      <p:bold r:id="rId18"/>
      <p:italic r:id="rId19"/>
      <p:boldItalic r:id="rId20"/>
    </p:embeddedFont>
    <p:embeddedFont>
      <p:font typeface="Open Sans" panose="020B0606030504020204" pitchFamily="34"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 roundtripDataSignature="AMtx7mjOmBtk5DbvnkierGKxpb4ZbKw0W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78" y="9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8" name="Google Shape;16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863794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89343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50220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
        <p:cNvGrpSpPr/>
        <p:nvPr/>
      </p:nvGrpSpPr>
      <p:grpSpPr>
        <a:xfrm>
          <a:off x="0" y="0"/>
          <a:ext cx="0" cy="0"/>
          <a:chOff x="0" y="0"/>
          <a:chExt cx="0" cy="0"/>
        </a:xfrm>
      </p:grpSpPr>
      <p:sp>
        <p:nvSpPr>
          <p:cNvPr id="21" name="Google Shape;2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4"/>
        <p:cNvGrpSpPr/>
        <p:nvPr/>
      </p:nvGrpSpPr>
      <p:grpSpPr>
        <a:xfrm>
          <a:off x="0" y="0"/>
          <a:ext cx="0" cy="0"/>
          <a:chOff x="0" y="0"/>
          <a:chExt cx="0" cy="0"/>
        </a:xfrm>
      </p:grpSpPr>
      <p:sp>
        <p:nvSpPr>
          <p:cNvPr id="25" name="Google Shape;25;p1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1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7" name="Google Shape;2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5"/>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6"/>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5"/>
        <p:cNvGrpSpPr/>
        <p:nvPr/>
      </p:nvGrpSpPr>
      <p:grpSpPr>
        <a:xfrm>
          <a:off x="0" y="0"/>
          <a:ext cx="0" cy="0"/>
          <a:chOff x="0" y="0"/>
          <a:chExt cx="0" cy="0"/>
        </a:xfrm>
      </p:grpSpPr>
      <p:sp>
        <p:nvSpPr>
          <p:cNvPr id="36" name="Google Shape;36;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7"/>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40" name="Google Shape;40;p17"/>
          <p:cNvPicPr preferRelativeResize="0"/>
          <p:nvPr/>
        </p:nvPicPr>
        <p:blipFill rotWithShape="1">
          <a:blip r:embed="rId2">
            <a:alphaModFix/>
          </a:blip>
          <a:srcRect/>
          <a:stretch/>
        </p:blipFill>
        <p:spPr>
          <a:xfrm>
            <a:off x="10711512" y="330213"/>
            <a:ext cx="1284576" cy="637759"/>
          </a:xfrm>
          <a:prstGeom prst="rect">
            <a:avLst/>
          </a:prstGeom>
          <a:noFill/>
          <a:ln>
            <a:noFill/>
          </a:ln>
        </p:spPr>
      </p:pic>
      <p:pic>
        <p:nvPicPr>
          <p:cNvPr id="41" name="Google Shape;41;p17"/>
          <p:cNvPicPr preferRelativeResize="0"/>
          <p:nvPr/>
        </p:nvPicPr>
        <p:blipFill rotWithShape="1">
          <a:blip r:embed="rId3">
            <a:alphaModFix/>
          </a:blip>
          <a:srcRect/>
          <a:stretch/>
        </p:blipFill>
        <p:spPr>
          <a:xfrm>
            <a:off x="93317" y="0"/>
            <a:ext cx="1489765" cy="1386637"/>
          </a:xfrm>
          <a:prstGeom prst="rect">
            <a:avLst/>
          </a:prstGeom>
          <a:noFill/>
          <a:ln>
            <a:noFill/>
          </a:ln>
        </p:spPr>
      </p:pic>
      <p:sp>
        <p:nvSpPr>
          <p:cNvPr id="42" name="Google Shape;42;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3"/>
        <p:cNvGrpSpPr/>
        <p:nvPr/>
      </p:nvGrpSpPr>
      <p:grpSpPr>
        <a:xfrm>
          <a:off x="0" y="0"/>
          <a:ext cx="0" cy="0"/>
          <a:chOff x="0" y="0"/>
          <a:chExt cx="0" cy="0"/>
        </a:xfrm>
      </p:grpSpPr>
      <p:pic>
        <p:nvPicPr>
          <p:cNvPr id="44" name="Google Shape;44;p18"/>
          <p:cNvPicPr preferRelativeResize="0"/>
          <p:nvPr/>
        </p:nvPicPr>
        <p:blipFill rotWithShape="1">
          <a:blip r:embed="rId2">
            <a:alphaModFix/>
          </a:blip>
          <a:srcRect/>
          <a:stretch/>
        </p:blipFill>
        <p:spPr>
          <a:xfrm>
            <a:off x="-6350" y="0"/>
            <a:ext cx="12192000" cy="6858000"/>
          </a:xfrm>
          <a:prstGeom prst="rect">
            <a:avLst/>
          </a:prstGeom>
          <a:noFill/>
          <a:ln>
            <a:noFill/>
          </a:ln>
        </p:spPr>
      </p:pic>
      <p:pic>
        <p:nvPicPr>
          <p:cNvPr id="45" name="Google Shape;45;p18"/>
          <p:cNvPicPr preferRelativeResize="0"/>
          <p:nvPr/>
        </p:nvPicPr>
        <p:blipFill rotWithShape="1">
          <a:blip r:embed="rId3">
            <a:alphaModFix/>
          </a:blip>
          <a:srcRect/>
          <a:stretch/>
        </p:blipFill>
        <p:spPr>
          <a:xfrm>
            <a:off x="10711512" y="330213"/>
            <a:ext cx="1284576" cy="637759"/>
          </a:xfrm>
          <a:prstGeom prst="rect">
            <a:avLst/>
          </a:prstGeom>
          <a:noFill/>
          <a:ln>
            <a:noFill/>
          </a:ln>
        </p:spPr>
      </p:pic>
      <p:sp>
        <p:nvSpPr>
          <p:cNvPr id="46" name="Google Shape;46;p1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8" name="Google Shape;4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8"/>
          <p:cNvSpPr/>
          <p:nvPr/>
        </p:nvSpPr>
        <p:spPr>
          <a:xfrm>
            <a:off x="838200" y="6338919"/>
            <a:ext cx="2743200" cy="382556"/>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 name="Google Shape;50;p18"/>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51" name="Google Shape;51;p18"/>
          <p:cNvPicPr preferRelativeResize="0"/>
          <p:nvPr/>
        </p:nvPicPr>
        <p:blipFill rotWithShape="1">
          <a:blip r:embed="rId4">
            <a:alphaModFix/>
          </a:blip>
          <a:srcRect/>
          <a:stretch/>
        </p:blipFill>
        <p:spPr>
          <a:xfrm>
            <a:off x="93317" y="0"/>
            <a:ext cx="1489765" cy="1386637"/>
          </a:xfrm>
          <a:prstGeom prst="rect">
            <a:avLst/>
          </a:prstGeom>
          <a:noFill/>
          <a:ln>
            <a:noFill/>
          </a:ln>
        </p:spPr>
      </p:pic>
      <p:sp>
        <p:nvSpPr>
          <p:cNvPr id="52" name="Google Shape;52;p18"/>
          <p:cNvSpPr/>
          <p:nvPr/>
        </p:nvSpPr>
        <p:spPr>
          <a:xfrm>
            <a:off x="10933155" y="6344015"/>
            <a:ext cx="466090" cy="431923"/>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sp>
      <p:sp>
        <p:nvSpPr>
          <p:cNvPr id="53" name="Google Shape;5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4"/>
        <p:cNvGrpSpPr/>
        <p:nvPr/>
      </p:nvGrpSpPr>
      <p:grpSpPr>
        <a:xfrm>
          <a:off x="0" y="0"/>
          <a:ext cx="0" cy="0"/>
          <a:chOff x="0" y="0"/>
          <a:chExt cx="0" cy="0"/>
        </a:xfrm>
      </p:grpSpPr>
      <p:sp>
        <p:nvSpPr>
          <p:cNvPr id="55" name="Google Shape;55;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1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9"/>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1"/>
        <p:cNvGrpSpPr/>
        <p:nvPr/>
      </p:nvGrpSpPr>
      <p:grpSpPr>
        <a:xfrm>
          <a:off x="0" y="0"/>
          <a:ext cx="0" cy="0"/>
          <a:chOff x="0" y="0"/>
          <a:chExt cx="0" cy="0"/>
        </a:xfrm>
      </p:grpSpPr>
      <p:sp>
        <p:nvSpPr>
          <p:cNvPr id="62" name="Google Shape;62;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4" name="Google Shape;64;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6" name="Google Shape;66;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0"/>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0"/>
        <p:cNvGrpSpPr/>
        <p:nvPr/>
      </p:nvGrpSpPr>
      <p:grpSpPr>
        <a:xfrm>
          <a:off x="0" y="0"/>
          <a:ext cx="0" cy="0"/>
          <a:chOff x="0" y="0"/>
          <a:chExt cx="0" cy="0"/>
        </a:xfrm>
      </p:grpSpPr>
      <p:sp>
        <p:nvSpPr>
          <p:cNvPr id="71" name="Google Shape;71;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2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3" name="Google Shape;73;p2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4" name="Google Shape;74;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21"/>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7"/>
        <p:cNvGrpSpPr/>
        <p:nvPr/>
      </p:nvGrpSpPr>
      <p:grpSpPr>
        <a:xfrm>
          <a:off x="0" y="0"/>
          <a:ext cx="0" cy="0"/>
          <a:chOff x="0" y="0"/>
          <a:chExt cx="0" cy="0"/>
        </a:xfrm>
      </p:grpSpPr>
      <p:sp>
        <p:nvSpPr>
          <p:cNvPr id="78" name="Google Shape;78;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22"/>
          <p:cNvSpPr>
            <a:spLocks noGrp="1"/>
          </p:cNvSpPr>
          <p:nvPr>
            <p:ph type="pic" idx="2"/>
          </p:nvPr>
        </p:nvSpPr>
        <p:spPr>
          <a:xfrm>
            <a:off x="5183188" y="987425"/>
            <a:ext cx="6172200" cy="4873625"/>
          </a:xfrm>
          <a:prstGeom prst="rect">
            <a:avLst/>
          </a:prstGeom>
          <a:noFill/>
          <a:ln>
            <a:noFill/>
          </a:ln>
        </p:spPr>
      </p:sp>
      <p:sp>
        <p:nvSpPr>
          <p:cNvPr id="80" name="Google Shape;80;p2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1" name="Google Shape;8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2"/>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4"/>
        <p:cNvGrpSpPr/>
        <p:nvPr/>
      </p:nvGrpSpPr>
      <p:grpSpPr>
        <a:xfrm>
          <a:off x="0" y="0"/>
          <a:ext cx="0" cy="0"/>
          <a:chOff x="0" y="0"/>
          <a:chExt cx="0" cy="0"/>
        </a:xfrm>
      </p:grpSpPr>
      <p:sp>
        <p:nvSpPr>
          <p:cNvPr id="85" name="Google Shape;85;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2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23"/>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0"/>
        <p:cNvGrpSpPr/>
        <p:nvPr/>
      </p:nvGrpSpPr>
      <p:grpSpPr>
        <a:xfrm>
          <a:off x="0" y="0"/>
          <a:ext cx="0" cy="0"/>
          <a:chOff x="0" y="0"/>
          <a:chExt cx="0" cy="0"/>
        </a:xfrm>
      </p:grpSpPr>
      <p:sp>
        <p:nvSpPr>
          <p:cNvPr id="91" name="Google Shape;91;p2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2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4"/>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96"/>
        <p:cNvGrpSpPr/>
        <p:nvPr/>
      </p:nvGrpSpPr>
      <p:grpSpPr>
        <a:xfrm>
          <a:off x="0" y="0"/>
          <a:ext cx="0" cy="0"/>
          <a:chOff x="0" y="0"/>
          <a:chExt cx="0" cy="0"/>
        </a:xfrm>
      </p:grpSpPr>
      <p:sp>
        <p:nvSpPr>
          <p:cNvPr id="97" name="Google Shape;97;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25"/>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3"/>
          <p:cNvPicPr preferRelativeResize="0"/>
          <p:nvPr/>
        </p:nvPicPr>
        <p:blipFill rotWithShape="1">
          <a:blip r:embed="rId14">
            <a:alphaModFix/>
          </a:blip>
          <a:srcRect/>
          <a:stretch/>
        </p:blipFill>
        <p:spPr>
          <a:xfrm>
            <a:off x="0" y="0"/>
            <a:ext cx="12192000" cy="6858000"/>
          </a:xfrm>
          <a:prstGeom prst="rect">
            <a:avLst/>
          </a:prstGeom>
          <a:noFill/>
          <a:ln>
            <a:noFill/>
          </a:ln>
        </p:spPr>
      </p:pic>
      <p:pic>
        <p:nvPicPr>
          <p:cNvPr id="11" name="Google Shape;11;p13"/>
          <p:cNvPicPr preferRelativeResize="0"/>
          <p:nvPr/>
        </p:nvPicPr>
        <p:blipFill rotWithShape="1">
          <a:blip r:embed="rId15">
            <a:alphaModFix/>
          </a:blip>
          <a:srcRect/>
          <a:stretch/>
        </p:blipFill>
        <p:spPr>
          <a:xfrm>
            <a:off x="10711512" y="330213"/>
            <a:ext cx="1284576" cy="637759"/>
          </a:xfrm>
          <a:prstGeom prst="rect">
            <a:avLst/>
          </a:prstGeom>
          <a:noFill/>
          <a:ln>
            <a:noFill/>
          </a:ln>
        </p:spPr>
      </p:pic>
      <p:sp>
        <p:nvSpPr>
          <p:cNvPr id="12" name="Google Shape;12;p13"/>
          <p:cNvSpPr/>
          <p:nvPr/>
        </p:nvSpPr>
        <p:spPr>
          <a:xfrm>
            <a:off x="838200" y="6338919"/>
            <a:ext cx="2743200" cy="382556"/>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a:lstStyle/>
          <a:p>
            <a:endParaRPr lang="en-US"/>
          </a:p>
        </p:txBody>
      </p:sp>
      <p:pic>
        <p:nvPicPr>
          <p:cNvPr id="13" name="Google Shape;13;p13"/>
          <p:cNvPicPr preferRelativeResize="0"/>
          <p:nvPr/>
        </p:nvPicPr>
        <p:blipFill rotWithShape="1">
          <a:blip r:embed="rId16">
            <a:alphaModFix/>
          </a:blip>
          <a:srcRect/>
          <a:stretch/>
        </p:blipFill>
        <p:spPr>
          <a:xfrm>
            <a:off x="93317" y="0"/>
            <a:ext cx="1489765" cy="1386637"/>
          </a:xfrm>
          <a:prstGeom prst="rect">
            <a:avLst/>
          </a:prstGeom>
          <a:noFill/>
          <a:ln>
            <a:noFill/>
          </a:ln>
        </p:spPr>
      </p:pic>
      <p:sp>
        <p:nvSpPr>
          <p:cNvPr id="14" name="Google Shape;14;p13"/>
          <p:cNvSpPr/>
          <p:nvPr/>
        </p:nvSpPr>
        <p:spPr>
          <a:xfrm>
            <a:off x="10974189" y="6344015"/>
            <a:ext cx="466090" cy="431923"/>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a:lstStyle/>
          <a:p>
            <a:endParaRPr lang="en-US"/>
          </a:p>
        </p:txBody>
      </p:sp>
      <p:sp>
        <p:nvSpPr>
          <p:cNvPr id="15" name="Google Shape;15;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 name="Google Shape;16;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 name="Google Shape;17;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600" b="0" i="0"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8" name="Google Shape;18;p13"/>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lt1"/>
                </a:solidFill>
                <a:latin typeface="Calibri"/>
                <a:ea typeface="Calibri"/>
                <a:cs typeface="Calibri"/>
                <a:sym typeface="Calibri"/>
              </a:defRPr>
            </a:lvl1pPr>
            <a:lvl2pPr marL="0" marR="0" lvl="1" indent="0" algn="r" rtl="0">
              <a:spcBef>
                <a:spcPts val="0"/>
              </a:spcBef>
              <a:buNone/>
              <a:defRPr sz="1200" b="0" i="0" u="none" strike="noStrike" cap="none">
                <a:solidFill>
                  <a:schemeClr val="lt1"/>
                </a:solidFill>
                <a:latin typeface="Calibri"/>
                <a:ea typeface="Calibri"/>
                <a:cs typeface="Calibri"/>
                <a:sym typeface="Calibri"/>
              </a:defRPr>
            </a:lvl2pPr>
            <a:lvl3pPr marL="0" marR="0" lvl="2" indent="0" algn="r" rtl="0">
              <a:spcBef>
                <a:spcPts val="0"/>
              </a:spcBef>
              <a:buNone/>
              <a:defRPr sz="1200" b="0" i="0" u="none" strike="noStrike" cap="none">
                <a:solidFill>
                  <a:schemeClr val="lt1"/>
                </a:solidFill>
                <a:latin typeface="Calibri"/>
                <a:ea typeface="Calibri"/>
                <a:cs typeface="Calibri"/>
                <a:sym typeface="Calibri"/>
              </a:defRPr>
            </a:lvl3pPr>
            <a:lvl4pPr marL="0" marR="0" lvl="3" indent="0" algn="r" rtl="0">
              <a:spcBef>
                <a:spcPts val="0"/>
              </a:spcBef>
              <a:buNone/>
              <a:defRPr sz="1200" b="0" i="0" u="none" strike="noStrike" cap="none">
                <a:solidFill>
                  <a:schemeClr val="lt1"/>
                </a:solidFill>
                <a:latin typeface="Calibri"/>
                <a:ea typeface="Calibri"/>
                <a:cs typeface="Calibri"/>
                <a:sym typeface="Calibri"/>
              </a:defRPr>
            </a:lvl4pPr>
            <a:lvl5pPr marL="0" marR="0" lvl="4" indent="0" algn="r" rtl="0">
              <a:spcBef>
                <a:spcPts val="0"/>
              </a:spcBef>
              <a:buNone/>
              <a:defRPr sz="1200" b="0" i="0" u="none" strike="noStrike" cap="none">
                <a:solidFill>
                  <a:schemeClr val="lt1"/>
                </a:solidFill>
                <a:latin typeface="Calibri"/>
                <a:ea typeface="Calibri"/>
                <a:cs typeface="Calibri"/>
                <a:sym typeface="Calibri"/>
              </a:defRPr>
            </a:lvl5pPr>
            <a:lvl6pPr marL="0" marR="0" lvl="5" indent="0" algn="r" rtl="0">
              <a:spcBef>
                <a:spcPts val="0"/>
              </a:spcBef>
              <a:buNone/>
              <a:defRPr sz="1200" b="0" i="0" u="none" strike="noStrike" cap="none">
                <a:solidFill>
                  <a:schemeClr val="lt1"/>
                </a:solidFill>
                <a:latin typeface="Calibri"/>
                <a:ea typeface="Calibri"/>
                <a:cs typeface="Calibri"/>
                <a:sym typeface="Calibri"/>
              </a:defRPr>
            </a:lvl6pPr>
            <a:lvl7pPr marL="0" marR="0" lvl="6" indent="0" algn="r" rtl="0">
              <a:spcBef>
                <a:spcPts val="0"/>
              </a:spcBef>
              <a:buNone/>
              <a:defRPr sz="1200" b="0" i="0" u="none" strike="noStrike" cap="none">
                <a:solidFill>
                  <a:schemeClr val="lt1"/>
                </a:solidFill>
                <a:latin typeface="Calibri"/>
                <a:ea typeface="Calibri"/>
                <a:cs typeface="Calibri"/>
                <a:sym typeface="Calibri"/>
              </a:defRPr>
            </a:lvl7pPr>
            <a:lvl8pPr marL="0" marR="0" lvl="7" indent="0" algn="r" rtl="0">
              <a:spcBef>
                <a:spcPts val="0"/>
              </a:spcBef>
              <a:buNone/>
              <a:defRPr sz="1200" b="0" i="0" u="none" strike="noStrike" cap="none">
                <a:solidFill>
                  <a:schemeClr val="lt1"/>
                </a:solidFill>
                <a:latin typeface="Calibri"/>
                <a:ea typeface="Calibri"/>
                <a:cs typeface="Calibri"/>
                <a:sym typeface="Calibri"/>
              </a:defRPr>
            </a:lvl8pPr>
            <a:lvl9pPr marL="0" marR="0" lvl="8" indent="0" algn="r" rtl="0">
              <a:spcBef>
                <a:spcPts val="0"/>
              </a:spcBef>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hyperlink" Target="https://app.powerbi.com/links/HjvxDWk7fB?ctid=d1aad15a-5724-45cd-a320-5e75718fa6bd&amp;pbi_source=linkShare&amp;bookmarkGuid=2b132f08-75ce-4758-8dd4-f033eecdfa8b"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hyperlink" Target="mailto:magedelias53@gmail.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11/30/25</a:t>
            </a:r>
          </a:p>
        </p:txBody>
      </p:sp>
      <p:sp>
        <p:nvSpPr>
          <p:cNvPr id="106" name="Google Shape;106;p1"/>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07" name="Google Shape;107;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
        <p:nvSpPr>
          <p:cNvPr id="108" name="Google Shape;108;p1"/>
          <p:cNvSpPr txBox="1"/>
          <p:nvPr/>
        </p:nvSpPr>
        <p:spPr>
          <a:xfrm>
            <a:off x="971365" y="1093629"/>
            <a:ext cx="5473885" cy="36512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D0D0D"/>
              </a:buClr>
              <a:buSzPts val="2400"/>
              <a:buFont typeface="Arial"/>
              <a:buNone/>
            </a:pPr>
            <a:r>
              <a:rPr lang="en-US" sz="2400" b="1" i="0" u="none" strike="noStrike" cap="none" dirty="0">
                <a:solidFill>
                  <a:srgbClr val="0D0D0D"/>
                </a:solidFill>
                <a:latin typeface="Arial"/>
                <a:ea typeface="Arial"/>
                <a:cs typeface="Arial"/>
                <a:sym typeface="Arial"/>
              </a:rPr>
              <a:t>Please follow Presentation Instructions:</a:t>
            </a:r>
            <a:endParaRPr dirty="0"/>
          </a:p>
        </p:txBody>
      </p:sp>
      <p:sp>
        <p:nvSpPr>
          <p:cNvPr id="109" name="Google Shape;109;p1"/>
          <p:cNvSpPr txBox="1"/>
          <p:nvPr/>
        </p:nvSpPr>
        <p:spPr>
          <a:xfrm>
            <a:off x="971364" y="1753848"/>
            <a:ext cx="10382435" cy="416911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D0D0D"/>
              </a:buClr>
              <a:buSzPts val="2000"/>
              <a:buFont typeface="Arial"/>
              <a:buNone/>
            </a:pPr>
            <a:r>
              <a:rPr lang="en-US" sz="2000" b="1" i="0" u="none" strike="noStrike" cap="none" dirty="0">
                <a:solidFill>
                  <a:srgbClr val="0D0D0D"/>
                </a:solidFill>
                <a:latin typeface="Arial"/>
                <a:ea typeface="Arial"/>
                <a:cs typeface="Arial"/>
                <a:sym typeface="Arial"/>
              </a:rPr>
              <a:t>Slide 1: Cover </a:t>
            </a:r>
            <a:endParaRPr sz="2000" b="0" i="0" u="none" strike="noStrike" cap="none" dirty="0">
              <a:solidFill>
                <a:srgbClr val="0D0D0D"/>
              </a:solidFill>
              <a:latin typeface="Arial"/>
              <a:ea typeface="Arial"/>
              <a:cs typeface="Arial"/>
              <a:sym typeface="Arial"/>
            </a:endParaRPr>
          </a:p>
          <a:p>
            <a:pPr marL="228600" marR="0" lvl="0" indent="-228600" algn="l" rtl="0">
              <a:lnSpc>
                <a:spcPct val="90000"/>
              </a:lnSpc>
              <a:spcBef>
                <a:spcPts val="1000"/>
              </a:spcBef>
              <a:spcAft>
                <a:spcPts val="0"/>
              </a:spcAft>
              <a:buClr>
                <a:srgbClr val="0D0D0D"/>
              </a:buClr>
              <a:buSzPts val="1800"/>
              <a:buFont typeface="Arial"/>
              <a:buChar char="•"/>
            </a:pPr>
            <a:r>
              <a:rPr lang="en-US" sz="1800" b="0" i="0" u="none" strike="noStrike" cap="none" dirty="0">
                <a:solidFill>
                  <a:srgbClr val="0D0D0D"/>
                </a:solidFill>
                <a:latin typeface="Arial"/>
                <a:ea typeface="Arial"/>
                <a:cs typeface="Arial"/>
                <a:sym typeface="Arial"/>
              </a:rPr>
              <a:t>Project Title: [Project Title]</a:t>
            </a:r>
            <a:endParaRPr lang="en-US" dirty="0"/>
          </a:p>
          <a:p>
            <a:pPr marL="228600" marR="0" lvl="0" indent="-228600" algn="l" rtl="0">
              <a:lnSpc>
                <a:spcPct val="90000"/>
              </a:lnSpc>
              <a:spcBef>
                <a:spcPts val="1000"/>
              </a:spcBef>
              <a:spcAft>
                <a:spcPts val="0"/>
              </a:spcAft>
              <a:buClr>
                <a:srgbClr val="0D0D0D"/>
              </a:buClr>
              <a:buSzPts val="1800"/>
              <a:buFont typeface="Arial"/>
              <a:buChar char="•"/>
            </a:pPr>
            <a:r>
              <a:rPr lang="en-US" sz="1800" b="0" i="0" u="none" strike="noStrike" cap="none" dirty="0">
                <a:solidFill>
                  <a:srgbClr val="0D0D0D"/>
                </a:solidFill>
                <a:latin typeface="Arial"/>
                <a:ea typeface="Arial"/>
                <a:cs typeface="Arial"/>
                <a:sym typeface="Arial"/>
              </a:rPr>
              <a:t>Presenter's Name: [Your Name]</a:t>
            </a:r>
            <a:endParaRPr lang="en-US" dirty="0"/>
          </a:p>
          <a:p>
            <a:pPr marL="228600" marR="0" lvl="0" indent="-228600" algn="l" rtl="0">
              <a:lnSpc>
                <a:spcPct val="90000"/>
              </a:lnSpc>
              <a:spcBef>
                <a:spcPts val="1000"/>
              </a:spcBef>
              <a:spcAft>
                <a:spcPts val="0"/>
              </a:spcAft>
              <a:buClr>
                <a:srgbClr val="0D0D0D"/>
              </a:buClr>
              <a:buSzPts val="1800"/>
              <a:buFont typeface="Arial"/>
              <a:buChar char="•"/>
            </a:pPr>
            <a:r>
              <a:rPr lang="en-US" sz="1800" b="0" i="0" u="none" strike="noStrike" cap="none" dirty="0">
                <a:solidFill>
                  <a:srgbClr val="0D0D0D"/>
                </a:solidFill>
                <a:latin typeface="Arial"/>
                <a:ea typeface="Arial"/>
                <a:cs typeface="Arial"/>
                <a:sym typeface="Arial"/>
              </a:rPr>
              <a:t>Date: [Date of Presentation]</a:t>
            </a:r>
            <a:endParaRPr dirty="0"/>
          </a:p>
          <a:p>
            <a:pPr marL="0" marR="0" lvl="0" indent="0" algn="l" rtl="0">
              <a:lnSpc>
                <a:spcPct val="90000"/>
              </a:lnSpc>
              <a:spcBef>
                <a:spcPts val="1000"/>
              </a:spcBef>
              <a:spcAft>
                <a:spcPts val="0"/>
              </a:spcAft>
              <a:buClr>
                <a:srgbClr val="0D0D0D"/>
              </a:buClr>
              <a:buSzPts val="2000"/>
              <a:buFont typeface="Arial"/>
              <a:buNone/>
            </a:pPr>
            <a:r>
              <a:rPr lang="en-US" sz="2000" b="1" i="0" u="none" strike="noStrike" cap="none" dirty="0">
                <a:solidFill>
                  <a:srgbClr val="0D0D0D"/>
                </a:solidFill>
                <a:latin typeface="Arial"/>
                <a:ea typeface="Arial"/>
                <a:cs typeface="Arial"/>
                <a:sym typeface="Arial"/>
              </a:rPr>
              <a:t>Slide 2: Project Idea</a:t>
            </a:r>
            <a:endParaRPr sz="2000" b="0" i="0" u="none" strike="noStrike" cap="none" dirty="0">
              <a:solidFill>
                <a:srgbClr val="0D0D0D"/>
              </a:solidFill>
              <a:latin typeface="Arial"/>
              <a:ea typeface="Arial"/>
              <a:cs typeface="Arial"/>
              <a:sym typeface="Arial"/>
            </a:endParaRPr>
          </a:p>
          <a:p>
            <a:pPr marL="228600" marR="0" lvl="0" indent="-228600" algn="l" rtl="0">
              <a:lnSpc>
                <a:spcPct val="90000"/>
              </a:lnSpc>
              <a:spcBef>
                <a:spcPts val="1000"/>
              </a:spcBef>
              <a:spcAft>
                <a:spcPts val="0"/>
              </a:spcAft>
              <a:buClr>
                <a:srgbClr val="0D0D0D"/>
              </a:buClr>
              <a:buSzPts val="1800"/>
              <a:buFont typeface="Arial"/>
              <a:buChar char="•"/>
            </a:pPr>
            <a:r>
              <a:rPr lang="en-US" sz="1800" b="0" i="0" u="none" strike="noStrike" cap="none" dirty="0">
                <a:solidFill>
                  <a:srgbClr val="0D0D0D"/>
                </a:solidFill>
                <a:latin typeface="Arial"/>
                <a:ea typeface="Arial"/>
                <a:cs typeface="Arial"/>
                <a:sym typeface="Arial"/>
              </a:rPr>
              <a:t>Brief description of the problem being solved</a:t>
            </a:r>
            <a:endParaRPr dirty="0"/>
          </a:p>
          <a:p>
            <a:pPr marL="228600" marR="0" lvl="0" indent="-228600" algn="l" rtl="0">
              <a:lnSpc>
                <a:spcPct val="90000"/>
              </a:lnSpc>
              <a:spcBef>
                <a:spcPts val="1000"/>
              </a:spcBef>
              <a:spcAft>
                <a:spcPts val="0"/>
              </a:spcAft>
              <a:buClr>
                <a:srgbClr val="0D0D0D"/>
              </a:buClr>
              <a:buSzPts val="1800"/>
              <a:buFont typeface="Arial"/>
              <a:buChar char="•"/>
            </a:pPr>
            <a:r>
              <a:rPr lang="en-US" sz="1800" b="0" i="0" u="none" strike="noStrike" cap="none" dirty="0">
                <a:solidFill>
                  <a:srgbClr val="0D0D0D"/>
                </a:solidFill>
                <a:latin typeface="Arial"/>
                <a:ea typeface="Arial"/>
                <a:cs typeface="Arial"/>
                <a:sym typeface="Arial"/>
              </a:rPr>
              <a:t>Overview of the proposed solution (high-level idea)</a:t>
            </a:r>
            <a:endParaRPr dirty="0"/>
          </a:p>
          <a:p>
            <a:pPr marL="228600" marR="0" lvl="0" indent="-228600" algn="l" rtl="0">
              <a:lnSpc>
                <a:spcPct val="90000"/>
              </a:lnSpc>
              <a:spcBef>
                <a:spcPts val="1000"/>
              </a:spcBef>
              <a:spcAft>
                <a:spcPts val="0"/>
              </a:spcAft>
              <a:buClr>
                <a:srgbClr val="0D0D0D"/>
              </a:buClr>
              <a:buSzPts val="1800"/>
              <a:buFont typeface="Arial"/>
              <a:buChar char="•"/>
            </a:pPr>
            <a:r>
              <a:rPr lang="en-US" sz="1800" b="0" i="0" u="none" strike="noStrike" cap="none" dirty="0">
                <a:solidFill>
                  <a:srgbClr val="0D0D0D"/>
                </a:solidFill>
                <a:latin typeface="Arial"/>
                <a:ea typeface="Arial"/>
                <a:cs typeface="Arial"/>
                <a:sym typeface="Arial"/>
              </a:rPr>
              <a:t>Unique value proposition (Explain what makes your project stand out)</a:t>
            </a:r>
            <a:endParaRPr dirty="0"/>
          </a:p>
          <a:p>
            <a:pPr marL="0" marR="0" lvl="0" indent="0" algn="l" rtl="0">
              <a:lnSpc>
                <a:spcPct val="90000"/>
              </a:lnSpc>
              <a:spcBef>
                <a:spcPts val="1000"/>
              </a:spcBef>
              <a:spcAft>
                <a:spcPts val="0"/>
              </a:spcAft>
              <a:buClr>
                <a:srgbClr val="0D0D0D"/>
              </a:buClr>
              <a:buSzPts val="2000"/>
              <a:buFont typeface="Arial"/>
              <a:buNone/>
            </a:pPr>
            <a:r>
              <a:rPr lang="en-US" sz="2000" b="1" i="0" u="none" strike="noStrike" cap="none" dirty="0">
                <a:solidFill>
                  <a:srgbClr val="0D0D0D"/>
                </a:solidFill>
                <a:latin typeface="Arial"/>
                <a:ea typeface="Arial"/>
                <a:cs typeface="Arial"/>
                <a:sym typeface="Arial"/>
              </a:rPr>
              <a:t>Slide3: Project Wireframe </a:t>
            </a:r>
            <a:endParaRPr sz="2000" b="0" i="0" u="none" strike="noStrike" cap="none" dirty="0">
              <a:solidFill>
                <a:srgbClr val="0D0D0D"/>
              </a:solidFill>
              <a:latin typeface="Arial"/>
              <a:ea typeface="Arial"/>
              <a:cs typeface="Arial"/>
              <a:sym typeface="Arial"/>
            </a:endParaRPr>
          </a:p>
          <a:p>
            <a:pPr marL="228600" marR="0" lvl="0" indent="-228600" algn="l" rtl="0">
              <a:lnSpc>
                <a:spcPct val="90000"/>
              </a:lnSpc>
              <a:spcBef>
                <a:spcPts val="1000"/>
              </a:spcBef>
              <a:spcAft>
                <a:spcPts val="0"/>
              </a:spcAft>
              <a:buClr>
                <a:srgbClr val="0D0D0D"/>
              </a:buClr>
              <a:buSzPts val="1800"/>
              <a:buFont typeface="Arial"/>
              <a:buChar char="•"/>
            </a:pPr>
            <a:r>
              <a:rPr lang="en-US" sz="1800" b="0" i="0" u="none" strike="noStrike" cap="none" dirty="0">
                <a:solidFill>
                  <a:srgbClr val="0D0D0D"/>
                </a:solidFill>
                <a:latin typeface="Arial"/>
                <a:ea typeface="Arial"/>
                <a:cs typeface="Arial"/>
                <a:sym typeface="Arial"/>
              </a:rPr>
              <a:t>Visual representation of key user interfaces (e.g., homepage, dashboard)</a:t>
            </a:r>
            <a:endParaRPr dirty="0"/>
          </a:p>
          <a:p>
            <a:pPr marL="228600" marR="0" lvl="0" indent="-228600" algn="l" rtl="0">
              <a:lnSpc>
                <a:spcPct val="90000"/>
              </a:lnSpc>
              <a:spcBef>
                <a:spcPts val="1000"/>
              </a:spcBef>
              <a:spcAft>
                <a:spcPts val="0"/>
              </a:spcAft>
              <a:buClr>
                <a:srgbClr val="0D0D0D"/>
              </a:buClr>
              <a:buSzPts val="1800"/>
              <a:buFont typeface="Arial"/>
              <a:buChar char="•"/>
            </a:pPr>
            <a:r>
              <a:rPr lang="en-US" sz="1800" b="0" i="0" u="none" strike="noStrike" cap="none" dirty="0">
                <a:solidFill>
                  <a:srgbClr val="0D0D0D"/>
                </a:solidFill>
                <a:latin typeface="Arial"/>
                <a:ea typeface="Arial"/>
                <a:cs typeface="Arial"/>
                <a:sym typeface="Arial"/>
              </a:rPr>
              <a:t>Overview of user journey (from onboarding to core features) | </a:t>
            </a:r>
            <a:r>
              <a:rPr lang="en-US" sz="1800" b="1" i="0" u="none" strike="noStrike" cap="none" dirty="0">
                <a:solidFill>
                  <a:srgbClr val="FF0000"/>
                </a:solidFill>
                <a:latin typeface="Arial"/>
                <a:ea typeface="Arial"/>
                <a:cs typeface="Arial"/>
                <a:sym typeface="Arial"/>
              </a:rPr>
              <a:t>*Note: for software groups only</a:t>
            </a:r>
            <a:endParaRPr dirty="0"/>
          </a:p>
          <a:p>
            <a:pPr marL="228600" marR="0" lvl="0" indent="-228600" algn="l" rtl="0">
              <a:lnSpc>
                <a:spcPct val="90000"/>
              </a:lnSpc>
              <a:spcBef>
                <a:spcPts val="1000"/>
              </a:spcBef>
              <a:spcAft>
                <a:spcPts val="0"/>
              </a:spcAft>
              <a:buClr>
                <a:srgbClr val="0D0D0D"/>
              </a:buClr>
              <a:buSzPts val="1800"/>
              <a:buFont typeface="Arial"/>
              <a:buChar char="•"/>
            </a:pPr>
            <a:r>
              <a:rPr lang="en-US" sz="1800" b="0" i="0" u="none" strike="noStrike" cap="none" dirty="0">
                <a:solidFill>
                  <a:srgbClr val="0D0D0D"/>
                </a:solidFill>
                <a:latin typeface="Arial"/>
                <a:ea typeface="Arial"/>
                <a:cs typeface="Arial"/>
                <a:sym typeface="Arial"/>
              </a:rPr>
              <a:t>Focus on usability and user experience</a:t>
            </a:r>
            <a:endParaRPr dirty="0"/>
          </a:p>
          <a:p>
            <a:pPr marL="228600" marR="0" lvl="0" indent="-50800" algn="l" rtl="0">
              <a:lnSpc>
                <a:spcPct val="90000"/>
              </a:lnSpc>
              <a:spcBef>
                <a:spcPts val="1000"/>
              </a:spcBef>
              <a:spcAft>
                <a:spcPts val="0"/>
              </a:spcAft>
              <a:buClr>
                <a:schemeClr val="dk1"/>
              </a:buClr>
              <a:buSzPts val="2800"/>
              <a:buFont typeface="Arial"/>
              <a:buNone/>
            </a:pPr>
            <a:endParaRPr sz="2800" b="0" i="0" u="none" strike="noStrike" cap="none" dirty="0">
              <a:solidFill>
                <a:schemeClr val="dk1"/>
              </a:solidFill>
              <a:latin typeface="Calibri"/>
              <a:ea typeface="Calibri"/>
              <a:cs typeface="Calibri"/>
              <a:sym typeface="Calibri"/>
            </a:endParaRPr>
          </a:p>
        </p:txBody>
      </p:sp>
      <p:pic>
        <p:nvPicPr>
          <p:cNvPr id="110" name="Google Shape;110;p1"/>
          <p:cNvPicPr preferRelativeResize="0"/>
          <p:nvPr/>
        </p:nvPicPr>
        <p:blipFill>
          <a:blip r:embed="rId3"/>
          <a:srcRect/>
          <a:stretch/>
        </p:blipFill>
        <p:spPr>
          <a:xfrm>
            <a:off x="9010943" y="6291124"/>
            <a:ext cx="1362250" cy="365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11/30/25</a:t>
            </a:r>
            <a:endParaRPr dirty="0"/>
          </a:p>
        </p:txBody>
      </p:sp>
      <p:sp>
        <p:nvSpPr>
          <p:cNvPr id="116" name="Google Shape;116;p2"/>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17" name="Google Shape;117;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
        <p:nvSpPr>
          <p:cNvPr id="118" name="Google Shape;118;p2"/>
          <p:cNvSpPr txBox="1"/>
          <p:nvPr/>
        </p:nvSpPr>
        <p:spPr>
          <a:xfrm>
            <a:off x="971365" y="1347629"/>
            <a:ext cx="10515600" cy="36512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D0D0D"/>
              </a:buClr>
              <a:buSzPts val="2400"/>
              <a:buFont typeface="Arial"/>
              <a:buNone/>
            </a:pPr>
            <a:r>
              <a:rPr lang="en-US" sz="2400" b="1" i="0" u="none" strike="noStrike" cap="none">
                <a:solidFill>
                  <a:srgbClr val="0D0D0D"/>
                </a:solidFill>
                <a:latin typeface="Arial"/>
                <a:ea typeface="Arial"/>
                <a:cs typeface="Arial"/>
                <a:sym typeface="Arial"/>
              </a:rPr>
              <a:t>Please follow Presentation Instructions:</a:t>
            </a:r>
            <a:endParaRPr sz="2400" b="1" i="0" u="none" strike="noStrike" cap="none">
              <a:solidFill>
                <a:srgbClr val="0D0D0D"/>
              </a:solidFill>
              <a:latin typeface="Arial"/>
              <a:ea typeface="Arial"/>
              <a:cs typeface="Arial"/>
              <a:sym typeface="Arial"/>
            </a:endParaRPr>
          </a:p>
        </p:txBody>
      </p:sp>
      <p:sp>
        <p:nvSpPr>
          <p:cNvPr id="119" name="Google Shape;119;p2"/>
          <p:cNvSpPr txBox="1"/>
          <p:nvPr/>
        </p:nvSpPr>
        <p:spPr>
          <a:xfrm>
            <a:off x="971364" y="1817226"/>
            <a:ext cx="10382435" cy="4016415"/>
          </a:xfrm>
          <a:prstGeom prst="rect">
            <a:avLst/>
          </a:prstGeom>
          <a:noFill/>
          <a:ln>
            <a:noFill/>
          </a:ln>
        </p:spPr>
        <p:txBody>
          <a:bodyPr spcFirstLastPara="1" wrap="square" lIns="91425" tIns="45700" rIns="91425" bIns="45700" anchor="t" anchorCtr="0">
            <a:normAutofit fontScale="92500" lnSpcReduction="20000"/>
          </a:bodyPr>
          <a:lstStyle/>
          <a:p>
            <a:pPr marL="0" marR="0" lvl="0" indent="0" algn="l" rtl="0">
              <a:lnSpc>
                <a:spcPct val="90000"/>
              </a:lnSpc>
              <a:spcBef>
                <a:spcPts val="0"/>
              </a:spcBef>
              <a:spcAft>
                <a:spcPts val="0"/>
              </a:spcAft>
              <a:buClr>
                <a:srgbClr val="0D0D0D"/>
              </a:buClr>
              <a:buSzPct val="100000"/>
              <a:buFont typeface="Arial"/>
              <a:buNone/>
            </a:pPr>
            <a:r>
              <a:rPr lang="en-US" sz="2000" b="1" i="0" u="none" strike="noStrike" cap="none" dirty="0">
                <a:solidFill>
                  <a:srgbClr val="0D0D0D"/>
                </a:solidFill>
                <a:latin typeface="Arial"/>
                <a:ea typeface="Arial"/>
                <a:cs typeface="Arial"/>
                <a:sym typeface="Arial"/>
              </a:rPr>
              <a:t>Slide 4: End Users + Features</a:t>
            </a:r>
            <a:endParaRPr dirty="0"/>
          </a:p>
          <a:p>
            <a:pPr marL="228600" marR="0" lvl="0" indent="-228600" algn="l" rtl="0">
              <a:lnSpc>
                <a:spcPct val="90000"/>
              </a:lnSpc>
              <a:spcBef>
                <a:spcPts val="1000"/>
              </a:spcBef>
              <a:spcAft>
                <a:spcPts val="0"/>
              </a:spcAft>
              <a:buClr>
                <a:srgbClr val="0D0D0D"/>
              </a:buClr>
              <a:buSzPct val="100000"/>
              <a:buFont typeface="Arial"/>
              <a:buChar char="•"/>
            </a:pPr>
            <a:r>
              <a:rPr lang="en-US" sz="1800" b="0" i="0" u="none" strike="noStrike" cap="none" dirty="0">
                <a:solidFill>
                  <a:srgbClr val="0D0D0D"/>
                </a:solidFill>
                <a:latin typeface="Arial"/>
                <a:ea typeface="Arial"/>
                <a:cs typeface="Arial"/>
                <a:sym typeface="Arial"/>
              </a:rPr>
              <a:t>Define primary user personas (e.g., individuals, businesses, etc.)</a:t>
            </a:r>
            <a:endParaRPr dirty="0"/>
          </a:p>
          <a:p>
            <a:pPr marL="228600" marR="0" lvl="0" indent="-228600" algn="l" rtl="0">
              <a:lnSpc>
                <a:spcPct val="90000"/>
              </a:lnSpc>
              <a:spcBef>
                <a:spcPts val="1000"/>
              </a:spcBef>
              <a:spcAft>
                <a:spcPts val="0"/>
              </a:spcAft>
              <a:buClr>
                <a:srgbClr val="0D0D0D"/>
              </a:buClr>
              <a:buSzPct val="100000"/>
              <a:buFont typeface="Arial"/>
              <a:buChar char="•"/>
            </a:pPr>
            <a:r>
              <a:rPr lang="en-US" sz="1800" b="0" i="0" u="none" strike="noStrike" cap="none" dirty="0">
                <a:solidFill>
                  <a:srgbClr val="0D0D0D"/>
                </a:solidFill>
                <a:latin typeface="Arial"/>
                <a:ea typeface="Arial"/>
                <a:cs typeface="Arial"/>
                <a:sym typeface="Arial"/>
              </a:rPr>
              <a:t>Key features that address user needs (list the most critical functionalities)</a:t>
            </a:r>
            <a:endParaRPr dirty="0"/>
          </a:p>
          <a:p>
            <a:pPr marL="228600" marR="0" lvl="0" indent="-228600" algn="l" rtl="0">
              <a:lnSpc>
                <a:spcPct val="90000"/>
              </a:lnSpc>
              <a:spcBef>
                <a:spcPts val="1000"/>
              </a:spcBef>
              <a:spcAft>
                <a:spcPts val="0"/>
              </a:spcAft>
              <a:buClr>
                <a:srgbClr val="0D0D0D"/>
              </a:buClr>
              <a:buSzPct val="100000"/>
              <a:buFont typeface="Arial"/>
              <a:buChar char="•"/>
            </a:pPr>
            <a:r>
              <a:rPr lang="en-US" sz="1800" b="0" i="0" u="none" strike="noStrike" cap="none" dirty="0">
                <a:solidFill>
                  <a:srgbClr val="0D0D0D"/>
                </a:solidFill>
                <a:latin typeface="Arial"/>
                <a:ea typeface="Arial"/>
                <a:cs typeface="Arial"/>
                <a:sym typeface="Arial"/>
              </a:rPr>
              <a:t>Explain how the features solve the problems of each end-user</a:t>
            </a:r>
            <a:endParaRPr dirty="0"/>
          </a:p>
          <a:p>
            <a:pPr marL="0" marR="0" lvl="0" indent="0" algn="l" rtl="0">
              <a:lnSpc>
                <a:spcPct val="90000"/>
              </a:lnSpc>
              <a:spcBef>
                <a:spcPts val="1000"/>
              </a:spcBef>
              <a:spcAft>
                <a:spcPts val="0"/>
              </a:spcAft>
              <a:buClr>
                <a:srgbClr val="0D0D0D"/>
              </a:buClr>
              <a:buSzPct val="100000"/>
              <a:buFont typeface="Arial"/>
              <a:buNone/>
            </a:pPr>
            <a:r>
              <a:rPr lang="en-US" sz="2000" b="1" i="0" u="none" strike="noStrike" cap="none" dirty="0">
                <a:solidFill>
                  <a:srgbClr val="0D0D0D"/>
                </a:solidFill>
                <a:latin typeface="Arial"/>
                <a:ea typeface="Arial"/>
                <a:cs typeface="Arial"/>
                <a:sym typeface="Arial"/>
              </a:rPr>
              <a:t>Slide 5: Data Structure</a:t>
            </a:r>
            <a:endParaRPr dirty="0"/>
          </a:p>
          <a:p>
            <a:pPr marL="228600" marR="0" lvl="0" indent="-228600" algn="l" rtl="0">
              <a:lnSpc>
                <a:spcPct val="90000"/>
              </a:lnSpc>
              <a:spcBef>
                <a:spcPts val="1000"/>
              </a:spcBef>
              <a:spcAft>
                <a:spcPts val="0"/>
              </a:spcAft>
              <a:buClr>
                <a:srgbClr val="0D0D0D"/>
              </a:buClr>
              <a:buSzPct val="100000"/>
              <a:buFont typeface="Arial"/>
              <a:buChar char="•"/>
            </a:pPr>
            <a:r>
              <a:rPr lang="en-US" sz="1800" b="0" i="0" u="none" strike="noStrike" cap="none" dirty="0">
                <a:solidFill>
                  <a:srgbClr val="0D0D0D"/>
                </a:solidFill>
                <a:latin typeface="Arial"/>
                <a:ea typeface="Arial"/>
                <a:cs typeface="Arial"/>
                <a:sym typeface="Arial"/>
              </a:rPr>
              <a:t>Description of the database architecture (e.g., relational, non-relational)</a:t>
            </a:r>
            <a:endParaRPr dirty="0"/>
          </a:p>
          <a:p>
            <a:pPr marL="228600" marR="0" lvl="0" indent="-228600" algn="l" rtl="0">
              <a:lnSpc>
                <a:spcPct val="90000"/>
              </a:lnSpc>
              <a:spcBef>
                <a:spcPts val="1000"/>
              </a:spcBef>
              <a:spcAft>
                <a:spcPts val="0"/>
              </a:spcAft>
              <a:buClr>
                <a:srgbClr val="0D0D0D"/>
              </a:buClr>
              <a:buSzPct val="100000"/>
              <a:buFont typeface="Arial"/>
              <a:buChar char="•"/>
            </a:pPr>
            <a:r>
              <a:rPr lang="en-US" sz="1800" b="0" i="0" u="none" strike="noStrike" cap="none" dirty="0">
                <a:solidFill>
                  <a:srgbClr val="0D0D0D"/>
                </a:solidFill>
                <a:latin typeface="Arial"/>
                <a:ea typeface="Arial"/>
                <a:cs typeface="Arial"/>
                <a:sym typeface="Arial"/>
              </a:rPr>
              <a:t>Key entities and relationships between data points</a:t>
            </a:r>
            <a:endParaRPr dirty="0"/>
          </a:p>
          <a:p>
            <a:pPr marL="228600" marR="0" lvl="0" indent="-228600" algn="l" rtl="0">
              <a:lnSpc>
                <a:spcPct val="90000"/>
              </a:lnSpc>
              <a:spcBef>
                <a:spcPts val="1000"/>
              </a:spcBef>
              <a:spcAft>
                <a:spcPts val="0"/>
              </a:spcAft>
              <a:buClr>
                <a:srgbClr val="0D0D0D"/>
              </a:buClr>
              <a:buSzPct val="100000"/>
              <a:buFont typeface="Arial"/>
              <a:buChar char="•"/>
            </a:pPr>
            <a:r>
              <a:rPr lang="en-US" sz="1800" b="0" i="0" u="none" strike="noStrike" cap="none" dirty="0">
                <a:solidFill>
                  <a:srgbClr val="0D0D0D"/>
                </a:solidFill>
                <a:latin typeface="Arial"/>
                <a:ea typeface="Arial"/>
                <a:cs typeface="Arial"/>
                <a:sym typeface="Arial"/>
              </a:rPr>
              <a:t>Data flow (how data is collected, stored, and accessed). </a:t>
            </a:r>
            <a:r>
              <a:rPr lang="en-US" sz="1800" b="1" i="0" u="none" strike="noStrike" cap="none" dirty="0">
                <a:solidFill>
                  <a:srgbClr val="FF0000"/>
                </a:solidFill>
                <a:latin typeface="Arial"/>
                <a:ea typeface="Arial"/>
                <a:cs typeface="Arial"/>
                <a:sym typeface="Arial"/>
              </a:rPr>
              <a:t>*Note: If you used CSV file, describe the features, the shape of data, balanced or not, used techniques, etc..</a:t>
            </a:r>
            <a:endParaRPr dirty="0"/>
          </a:p>
          <a:p>
            <a:pPr marL="0" marR="0" lvl="0" indent="0" algn="l" rtl="0">
              <a:lnSpc>
                <a:spcPct val="90000"/>
              </a:lnSpc>
              <a:spcBef>
                <a:spcPts val="1000"/>
              </a:spcBef>
              <a:spcAft>
                <a:spcPts val="0"/>
              </a:spcAft>
              <a:buClr>
                <a:srgbClr val="0D0D0D"/>
              </a:buClr>
              <a:buSzPct val="100000"/>
              <a:buFont typeface="Arial"/>
              <a:buNone/>
            </a:pPr>
            <a:r>
              <a:rPr lang="en-US" sz="2000" b="1" i="0" u="none" strike="noStrike" cap="none" dirty="0">
                <a:solidFill>
                  <a:srgbClr val="0D0D0D"/>
                </a:solidFill>
                <a:latin typeface="Arial"/>
                <a:ea typeface="Arial"/>
                <a:cs typeface="Arial"/>
                <a:sym typeface="Arial"/>
              </a:rPr>
              <a:t>Final 6: Programming Languages + Frameworks</a:t>
            </a:r>
            <a:endParaRPr dirty="0"/>
          </a:p>
          <a:p>
            <a:pPr marL="228600" marR="0" lvl="0" indent="-228600" algn="l" rtl="0">
              <a:lnSpc>
                <a:spcPct val="100000"/>
              </a:lnSpc>
              <a:spcBef>
                <a:spcPts val="1000"/>
              </a:spcBef>
              <a:spcAft>
                <a:spcPts val="0"/>
              </a:spcAft>
              <a:buClr>
                <a:srgbClr val="0D0D0D"/>
              </a:buClr>
              <a:buSzPct val="100000"/>
              <a:buFont typeface="Arial"/>
              <a:buChar char="•"/>
            </a:pPr>
            <a:r>
              <a:rPr lang="en-US" sz="1800" b="0" i="0" u="none" strike="noStrike" cap="none" dirty="0">
                <a:solidFill>
                  <a:srgbClr val="0D0D0D"/>
                </a:solidFill>
                <a:latin typeface="Arial"/>
                <a:ea typeface="Arial"/>
                <a:cs typeface="Arial"/>
                <a:sym typeface="Arial"/>
              </a:rPr>
              <a:t>List the main programming languages used (e.g., Python, JavaScript)</a:t>
            </a:r>
            <a:endParaRPr dirty="0"/>
          </a:p>
          <a:p>
            <a:pPr marL="228600" marR="0" lvl="0" indent="-228600" algn="l" rtl="0">
              <a:lnSpc>
                <a:spcPct val="100000"/>
              </a:lnSpc>
              <a:spcBef>
                <a:spcPts val="1000"/>
              </a:spcBef>
              <a:spcAft>
                <a:spcPts val="0"/>
              </a:spcAft>
              <a:buClr>
                <a:srgbClr val="0D0D0D"/>
              </a:buClr>
              <a:buSzPct val="100000"/>
              <a:buFont typeface="Arial"/>
              <a:buChar char="•"/>
            </a:pPr>
            <a:r>
              <a:rPr lang="en-US" sz="1800" b="0" i="0" u="none" strike="noStrike" cap="none" dirty="0">
                <a:solidFill>
                  <a:srgbClr val="0D0D0D"/>
                </a:solidFill>
                <a:latin typeface="Arial"/>
                <a:ea typeface="Arial"/>
                <a:cs typeface="Arial"/>
                <a:sym typeface="Arial"/>
              </a:rPr>
              <a:t>Highlight frameworks/tools used (e.g., Django, React)</a:t>
            </a:r>
            <a:endParaRPr dirty="0"/>
          </a:p>
          <a:p>
            <a:pPr marL="228600" marR="0" lvl="0" indent="-228600" algn="l" rtl="0">
              <a:lnSpc>
                <a:spcPct val="100000"/>
              </a:lnSpc>
              <a:spcBef>
                <a:spcPts val="1000"/>
              </a:spcBef>
              <a:spcAft>
                <a:spcPts val="0"/>
              </a:spcAft>
              <a:buClr>
                <a:srgbClr val="0D0D0D"/>
              </a:buClr>
              <a:buSzPct val="100000"/>
              <a:buFont typeface="Arial"/>
              <a:buChar char="•"/>
            </a:pPr>
            <a:r>
              <a:rPr lang="en-US" sz="1800" b="0" i="0" u="none" strike="noStrike" cap="none" dirty="0">
                <a:solidFill>
                  <a:srgbClr val="0D0D0D"/>
                </a:solidFill>
                <a:latin typeface="Arial"/>
                <a:ea typeface="Arial"/>
                <a:cs typeface="Arial"/>
                <a:sym typeface="Arial"/>
              </a:rPr>
              <a:t>Mention any supporting technologies (e.g., APIs, cloud platforms)</a:t>
            </a:r>
            <a:endParaRPr sz="2800" b="0" i="0" u="none" strike="noStrike" cap="none" dirty="0">
              <a:solidFill>
                <a:schemeClr val="dk1"/>
              </a:solidFill>
              <a:latin typeface="Calibri"/>
              <a:ea typeface="Calibri"/>
              <a:cs typeface="Calibri"/>
              <a:sym typeface="Calibri"/>
            </a:endParaRPr>
          </a:p>
        </p:txBody>
      </p:sp>
      <p:pic>
        <p:nvPicPr>
          <p:cNvPr id="2" name="Google Shape;110;p1">
            <a:extLst>
              <a:ext uri="{FF2B5EF4-FFF2-40B4-BE49-F238E27FC236}">
                <a16:creationId xmlns:a16="http://schemas.microsoft.com/office/drawing/2014/main" id="{C1E5390B-B48C-13AC-3A51-0E29BA8D346E}"/>
              </a:ext>
            </a:extLst>
          </p:cNvPr>
          <p:cNvPicPr preferRelativeResize="0"/>
          <p:nvPr/>
        </p:nvPicPr>
        <p:blipFill>
          <a:blip r:embed="rId3"/>
          <a:srcRect/>
          <a:stretch/>
        </p:blipFill>
        <p:spPr>
          <a:xfrm>
            <a:off x="9010943" y="6291124"/>
            <a:ext cx="1362250" cy="3651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11/30/25</a:t>
            </a:r>
          </a:p>
        </p:txBody>
      </p:sp>
      <p:sp>
        <p:nvSpPr>
          <p:cNvPr id="126" name="Google Shape;126;p3"/>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27" name="Google Shape;127;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
        <p:nvSpPr>
          <p:cNvPr id="128" name="Google Shape;128;p3"/>
          <p:cNvSpPr txBox="1"/>
          <p:nvPr/>
        </p:nvSpPr>
        <p:spPr>
          <a:xfrm>
            <a:off x="971365" y="1347629"/>
            <a:ext cx="10515600" cy="36512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D0D0D"/>
              </a:buClr>
              <a:buSzPts val="2400"/>
              <a:buFont typeface="Arial"/>
              <a:buNone/>
            </a:pPr>
            <a:r>
              <a:rPr lang="en-US" sz="2400" b="1" i="0" u="none" strike="noStrike" cap="none">
                <a:solidFill>
                  <a:srgbClr val="0D0D0D"/>
                </a:solidFill>
                <a:latin typeface="Arial"/>
                <a:ea typeface="Arial"/>
                <a:cs typeface="Arial"/>
                <a:sym typeface="Arial"/>
              </a:rPr>
              <a:t>Please follow Presentation Instructions:</a:t>
            </a:r>
            <a:endParaRPr sz="2400" b="1" i="0" u="none" strike="noStrike" cap="none">
              <a:solidFill>
                <a:srgbClr val="0D0D0D"/>
              </a:solidFill>
              <a:latin typeface="Arial"/>
              <a:ea typeface="Arial"/>
              <a:cs typeface="Arial"/>
              <a:sym typeface="Arial"/>
            </a:endParaRPr>
          </a:p>
        </p:txBody>
      </p:sp>
      <p:sp>
        <p:nvSpPr>
          <p:cNvPr id="129" name="Google Shape;129;p3"/>
          <p:cNvSpPr txBox="1"/>
          <p:nvPr/>
        </p:nvSpPr>
        <p:spPr>
          <a:xfrm>
            <a:off x="971364" y="1817226"/>
            <a:ext cx="10382435" cy="4016415"/>
          </a:xfrm>
          <a:prstGeom prst="rect">
            <a:avLst/>
          </a:prstGeom>
          <a:noFill/>
          <a:ln>
            <a:noFill/>
          </a:ln>
        </p:spPr>
        <p:txBody>
          <a:bodyPr spcFirstLastPara="1" wrap="square" lIns="91425" tIns="45700" rIns="91425" bIns="45700" anchor="t" anchorCtr="0">
            <a:normAutofit fontScale="92500" lnSpcReduction="20000"/>
          </a:bodyPr>
          <a:lstStyle/>
          <a:p>
            <a:pPr marL="0" marR="0" lvl="0" indent="0" algn="l" rtl="0">
              <a:lnSpc>
                <a:spcPct val="90000"/>
              </a:lnSpc>
              <a:spcBef>
                <a:spcPts val="0"/>
              </a:spcBef>
              <a:spcAft>
                <a:spcPts val="0"/>
              </a:spcAft>
              <a:buClr>
                <a:srgbClr val="0D0D0D"/>
              </a:buClr>
              <a:buSzPct val="100000"/>
              <a:buFont typeface="Arial"/>
              <a:buNone/>
            </a:pPr>
            <a:r>
              <a:rPr lang="en-US" sz="2000" b="1" i="0" u="none" strike="noStrike" cap="none" dirty="0">
                <a:solidFill>
                  <a:srgbClr val="0D0D0D"/>
                </a:solidFill>
                <a:latin typeface="Arial"/>
                <a:ea typeface="Arial"/>
                <a:cs typeface="Arial"/>
                <a:sym typeface="Arial"/>
              </a:rPr>
              <a:t>Slide 7: Live Application + Test</a:t>
            </a:r>
            <a:endParaRPr dirty="0"/>
          </a:p>
          <a:p>
            <a:pPr marL="228600" marR="0" lvl="0" indent="-228600" algn="l" rtl="0">
              <a:lnSpc>
                <a:spcPct val="90000"/>
              </a:lnSpc>
              <a:spcBef>
                <a:spcPts val="1000"/>
              </a:spcBef>
              <a:spcAft>
                <a:spcPts val="0"/>
              </a:spcAft>
              <a:buClr>
                <a:srgbClr val="0D0D0D"/>
              </a:buClr>
              <a:buSzPct val="100000"/>
              <a:buFont typeface="Arial"/>
              <a:buChar char="•"/>
            </a:pPr>
            <a:r>
              <a:rPr lang="en-US" sz="1800" b="0" i="0" u="none" strike="noStrike" cap="none" dirty="0">
                <a:solidFill>
                  <a:srgbClr val="0D0D0D"/>
                </a:solidFill>
                <a:latin typeface="Arial"/>
                <a:ea typeface="Arial"/>
                <a:cs typeface="Arial"/>
                <a:sym typeface="Arial"/>
              </a:rPr>
              <a:t>Overview of the current state of the live application (beta/production)</a:t>
            </a:r>
            <a:endParaRPr dirty="0"/>
          </a:p>
          <a:p>
            <a:pPr marL="228600" marR="0" lvl="0" indent="-228600" algn="l" rtl="0">
              <a:lnSpc>
                <a:spcPct val="90000"/>
              </a:lnSpc>
              <a:spcBef>
                <a:spcPts val="1000"/>
              </a:spcBef>
              <a:spcAft>
                <a:spcPts val="0"/>
              </a:spcAft>
              <a:buClr>
                <a:srgbClr val="0D0D0D"/>
              </a:buClr>
              <a:buSzPct val="100000"/>
              <a:buFont typeface="Arial"/>
              <a:buChar char="•"/>
            </a:pPr>
            <a:r>
              <a:rPr lang="en-US" sz="1800" b="0" i="0" u="none" strike="noStrike" cap="none" dirty="0">
                <a:solidFill>
                  <a:srgbClr val="0D0D0D"/>
                </a:solidFill>
                <a:latin typeface="Arial"/>
                <a:ea typeface="Arial"/>
                <a:cs typeface="Arial"/>
                <a:sym typeface="Arial"/>
              </a:rPr>
              <a:t>Key testing phases (unit testing, integration testing, user testing)</a:t>
            </a:r>
            <a:endParaRPr dirty="0"/>
          </a:p>
          <a:p>
            <a:pPr marL="228600" marR="0" lvl="0" indent="-228600" algn="l" rtl="0">
              <a:lnSpc>
                <a:spcPct val="90000"/>
              </a:lnSpc>
              <a:spcBef>
                <a:spcPts val="1000"/>
              </a:spcBef>
              <a:spcAft>
                <a:spcPts val="0"/>
              </a:spcAft>
              <a:buClr>
                <a:srgbClr val="0D0D0D"/>
              </a:buClr>
              <a:buSzPct val="100000"/>
              <a:buFont typeface="Arial"/>
              <a:buChar char="•"/>
            </a:pPr>
            <a:r>
              <a:rPr lang="en-US" sz="1800" b="0" i="0" u="none" strike="noStrike" cap="none" dirty="0">
                <a:solidFill>
                  <a:srgbClr val="0D0D0D"/>
                </a:solidFill>
                <a:latin typeface="Arial"/>
                <a:ea typeface="Arial"/>
                <a:cs typeface="Arial"/>
                <a:sym typeface="Arial"/>
              </a:rPr>
              <a:t>Feedback from users or quality assurance</a:t>
            </a:r>
            <a:endParaRPr dirty="0"/>
          </a:p>
          <a:p>
            <a:pPr marL="0" marR="0" lvl="0" indent="0" algn="l" rtl="0">
              <a:lnSpc>
                <a:spcPct val="90000"/>
              </a:lnSpc>
              <a:spcBef>
                <a:spcPts val="1000"/>
              </a:spcBef>
              <a:spcAft>
                <a:spcPts val="0"/>
              </a:spcAft>
              <a:buClr>
                <a:srgbClr val="0D0D0D"/>
              </a:buClr>
              <a:buSzPct val="100000"/>
              <a:buFont typeface="Arial"/>
              <a:buNone/>
            </a:pPr>
            <a:r>
              <a:rPr lang="en-US" sz="2000" b="1" i="0" u="none" strike="noStrike" cap="none" dirty="0">
                <a:solidFill>
                  <a:srgbClr val="0D0D0D"/>
                </a:solidFill>
                <a:latin typeface="Arial"/>
                <a:ea typeface="Arial"/>
                <a:cs typeface="Arial"/>
                <a:sym typeface="Arial"/>
              </a:rPr>
              <a:t>Slide 8: Deliverables (Reports, etc.)</a:t>
            </a:r>
            <a:endParaRPr dirty="0"/>
          </a:p>
          <a:p>
            <a:pPr marL="228600" marR="0" lvl="0" indent="-228600" algn="l" rtl="0">
              <a:lnSpc>
                <a:spcPct val="90000"/>
              </a:lnSpc>
              <a:spcBef>
                <a:spcPts val="1000"/>
              </a:spcBef>
              <a:spcAft>
                <a:spcPts val="0"/>
              </a:spcAft>
              <a:buClr>
                <a:srgbClr val="0D0D0D"/>
              </a:buClr>
              <a:buSzPct val="100000"/>
              <a:buFont typeface="Arial"/>
              <a:buChar char="•"/>
            </a:pPr>
            <a:r>
              <a:rPr lang="en-US" sz="1800" b="0" i="0" u="none" strike="noStrike" cap="none" dirty="0">
                <a:solidFill>
                  <a:srgbClr val="0D0D0D"/>
                </a:solidFill>
                <a:latin typeface="Arial"/>
                <a:ea typeface="Arial"/>
                <a:cs typeface="Arial"/>
                <a:sym typeface="Arial"/>
              </a:rPr>
              <a:t>List of reports and documentation to be provided (e.g., technical specs, user manuals)</a:t>
            </a:r>
            <a:endParaRPr dirty="0"/>
          </a:p>
          <a:p>
            <a:pPr marL="228600" marR="0" lvl="0" indent="-228600" algn="l" rtl="0">
              <a:lnSpc>
                <a:spcPct val="90000"/>
              </a:lnSpc>
              <a:spcBef>
                <a:spcPts val="1000"/>
              </a:spcBef>
              <a:spcAft>
                <a:spcPts val="0"/>
              </a:spcAft>
              <a:buClr>
                <a:srgbClr val="0D0D0D"/>
              </a:buClr>
              <a:buSzPct val="100000"/>
              <a:buFont typeface="Arial"/>
              <a:buChar char="•"/>
            </a:pPr>
            <a:r>
              <a:rPr lang="en-US" sz="1800" b="0" i="0" u="none" strike="noStrike" cap="none" dirty="0">
                <a:solidFill>
                  <a:srgbClr val="0D0D0D"/>
                </a:solidFill>
                <a:latin typeface="Arial"/>
                <a:ea typeface="Arial"/>
                <a:cs typeface="Arial"/>
                <a:sym typeface="Arial"/>
              </a:rPr>
              <a:t>Timeline for deliverables (milestones and deadlines)</a:t>
            </a:r>
            <a:endParaRPr dirty="0"/>
          </a:p>
          <a:p>
            <a:pPr marL="228600" marR="0" lvl="0" indent="-228600" algn="l" rtl="0">
              <a:lnSpc>
                <a:spcPct val="90000"/>
              </a:lnSpc>
              <a:spcBef>
                <a:spcPts val="1000"/>
              </a:spcBef>
              <a:spcAft>
                <a:spcPts val="0"/>
              </a:spcAft>
              <a:buClr>
                <a:srgbClr val="0D0D0D"/>
              </a:buClr>
              <a:buSzPct val="100000"/>
              <a:buFont typeface="Arial"/>
              <a:buChar char="•"/>
            </a:pPr>
            <a:r>
              <a:rPr lang="en-US" sz="1800" b="0" i="0" u="none" strike="noStrike" cap="none" dirty="0">
                <a:solidFill>
                  <a:srgbClr val="0D0D0D"/>
                </a:solidFill>
                <a:latin typeface="Arial"/>
                <a:ea typeface="Arial"/>
                <a:cs typeface="Arial"/>
                <a:sym typeface="Arial"/>
              </a:rPr>
              <a:t>Other final products (e.g., working app, source code repository)</a:t>
            </a:r>
            <a:endParaRPr dirty="0"/>
          </a:p>
          <a:p>
            <a:pPr marL="0" marR="0" lvl="0" indent="0" algn="l" rtl="0">
              <a:lnSpc>
                <a:spcPct val="90000"/>
              </a:lnSpc>
              <a:spcBef>
                <a:spcPts val="1000"/>
              </a:spcBef>
              <a:spcAft>
                <a:spcPts val="0"/>
              </a:spcAft>
              <a:buClr>
                <a:srgbClr val="0D0D0D"/>
              </a:buClr>
              <a:buSzPct val="100000"/>
              <a:buFont typeface="Arial"/>
              <a:buNone/>
            </a:pPr>
            <a:r>
              <a:rPr lang="en-US" sz="2000" b="1" i="0" u="none" strike="noStrike" cap="none" dirty="0">
                <a:solidFill>
                  <a:srgbClr val="0D0D0D"/>
                </a:solidFill>
                <a:latin typeface="Arial"/>
                <a:ea typeface="Arial"/>
                <a:cs typeface="Arial"/>
                <a:sym typeface="Arial"/>
              </a:rPr>
              <a:t>Slide 9: Project Team + Roles</a:t>
            </a:r>
            <a:endParaRPr sz="1800" b="1" i="0" u="none" strike="noStrike" cap="none" dirty="0">
              <a:solidFill>
                <a:srgbClr val="0D0D0D"/>
              </a:solidFill>
              <a:latin typeface="Arial"/>
              <a:ea typeface="Arial"/>
              <a:cs typeface="Arial"/>
              <a:sym typeface="Arial"/>
            </a:endParaRPr>
          </a:p>
          <a:p>
            <a:pPr marL="228600" marR="0" lvl="0" indent="-228600" algn="l" rtl="0">
              <a:lnSpc>
                <a:spcPct val="90000"/>
              </a:lnSpc>
              <a:spcBef>
                <a:spcPts val="1000"/>
              </a:spcBef>
              <a:spcAft>
                <a:spcPts val="0"/>
              </a:spcAft>
              <a:buClr>
                <a:schemeClr val="dk1"/>
              </a:buClr>
              <a:buSzPct val="100000"/>
              <a:buFont typeface="Arial"/>
              <a:buChar char="•"/>
            </a:pPr>
            <a:r>
              <a:rPr lang="en-US" sz="1800" b="0" i="0" u="none" strike="noStrike" cap="none" dirty="0">
                <a:solidFill>
                  <a:schemeClr val="dk1"/>
                </a:solidFill>
                <a:latin typeface="Calibri"/>
                <a:ea typeface="Calibri"/>
                <a:cs typeface="Calibri"/>
                <a:sym typeface="Calibri"/>
              </a:rPr>
              <a:t>List the core team members and their roles (e.g., developers, UX designers)</a:t>
            </a:r>
            <a:endParaRPr dirty="0"/>
          </a:p>
          <a:p>
            <a:pPr marL="228600" marR="0" lvl="0" indent="-228600" algn="l" rtl="0">
              <a:lnSpc>
                <a:spcPct val="90000"/>
              </a:lnSpc>
              <a:spcBef>
                <a:spcPts val="1000"/>
              </a:spcBef>
              <a:spcAft>
                <a:spcPts val="0"/>
              </a:spcAft>
              <a:buClr>
                <a:schemeClr val="dk1"/>
              </a:buClr>
              <a:buSzPct val="100000"/>
              <a:buFont typeface="Arial"/>
              <a:buChar char="•"/>
            </a:pPr>
            <a:r>
              <a:rPr lang="en-US" sz="1800" b="0" i="0" u="none" strike="noStrike" cap="none" dirty="0">
                <a:solidFill>
                  <a:schemeClr val="dk1"/>
                </a:solidFill>
                <a:latin typeface="Calibri"/>
                <a:ea typeface="Calibri"/>
                <a:cs typeface="Calibri"/>
                <a:sym typeface="Calibri"/>
              </a:rPr>
              <a:t>Key responsibilities for each team member</a:t>
            </a:r>
            <a:endParaRPr dirty="0"/>
          </a:p>
          <a:p>
            <a:pPr marL="228600" marR="0" lvl="0" indent="-228600" algn="l" rtl="0">
              <a:lnSpc>
                <a:spcPct val="90000"/>
              </a:lnSpc>
              <a:spcBef>
                <a:spcPts val="1000"/>
              </a:spcBef>
              <a:spcAft>
                <a:spcPts val="0"/>
              </a:spcAft>
              <a:buClr>
                <a:schemeClr val="dk1"/>
              </a:buClr>
              <a:buSzPct val="100000"/>
              <a:buFont typeface="Arial"/>
              <a:buChar char="•"/>
            </a:pPr>
            <a:r>
              <a:rPr lang="en-US" sz="1800" b="0" i="0" u="none" strike="noStrike" cap="none" dirty="0">
                <a:solidFill>
                  <a:schemeClr val="dk1"/>
                </a:solidFill>
                <a:latin typeface="Calibri"/>
                <a:ea typeface="Calibri"/>
                <a:cs typeface="Calibri"/>
                <a:sym typeface="Calibri"/>
              </a:rPr>
              <a:t>Collaboration methods (e.g., communication tools, agile methodologies)</a:t>
            </a:r>
            <a:endParaRPr dirty="0"/>
          </a:p>
        </p:txBody>
      </p:sp>
      <p:pic>
        <p:nvPicPr>
          <p:cNvPr id="2" name="Google Shape;110;p1">
            <a:extLst>
              <a:ext uri="{FF2B5EF4-FFF2-40B4-BE49-F238E27FC236}">
                <a16:creationId xmlns:a16="http://schemas.microsoft.com/office/drawing/2014/main" id="{AA4158FA-5A66-DD71-FB0E-0599E12140E4}"/>
              </a:ext>
            </a:extLst>
          </p:cNvPr>
          <p:cNvPicPr preferRelativeResize="0"/>
          <p:nvPr/>
        </p:nvPicPr>
        <p:blipFill>
          <a:blip r:embed="rId3"/>
          <a:srcRect/>
          <a:stretch/>
        </p:blipFill>
        <p:spPr>
          <a:xfrm>
            <a:off x="9010943" y="6291124"/>
            <a:ext cx="1362250" cy="3651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11/30/25</a:t>
            </a:r>
          </a:p>
        </p:txBody>
      </p:sp>
      <p:sp>
        <p:nvSpPr>
          <p:cNvPr id="136" name="Google Shape;136;p4"/>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37" name="Google Shape;137;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
        <p:nvSpPr>
          <p:cNvPr id="138" name="Google Shape;138;p4"/>
          <p:cNvSpPr txBox="1"/>
          <p:nvPr/>
        </p:nvSpPr>
        <p:spPr>
          <a:xfrm>
            <a:off x="971365" y="1347629"/>
            <a:ext cx="10515600" cy="36512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D0D0D"/>
              </a:buClr>
              <a:buSzPts val="2400"/>
              <a:buFont typeface="Arial"/>
              <a:buNone/>
            </a:pPr>
            <a:r>
              <a:rPr lang="en-US" sz="2400" b="1" i="0" u="none" strike="noStrike" cap="none">
                <a:solidFill>
                  <a:srgbClr val="0D0D0D"/>
                </a:solidFill>
                <a:latin typeface="Arial"/>
                <a:ea typeface="Arial"/>
                <a:cs typeface="Arial"/>
                <a:sym typeface="Arial"/>
              </a:rPr>
              <a:t>Please follow Presentation Instructions:</a:t>
            </a:r>
            <a:endParaRPr sz="2400" b="1" i="0" u="none" strike="noStrike" cap="none">
              <a:solidFill>
                <a:srgbClr val="0D0D0D"/>
              </a:solidFill>
              <a:latin typeface="Arial"/>
              <a:ea typeface="Arial"/>
              <a:cs typeface="Arial"/>
              <a:sym typeface="Arial"/>
            </a:endParaRPr>
          </a:p>
        </p:txBody>
      </p:sp>
      <p:sp>
        <p:nvSpPr>
          <p:cNvPr id="139" name="Google Shape;139;p4"/>
          <p:cNvSpPr txBox="1"/>
          <p:nvPr/>
        </p:nvSpPr>
        <p:spPr>
          <a:xfrm>
            <a:off x="971364" y="1817226"/>
            <a:ext cx="10382435" cy="4016415"/>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0D0D0D"/>
              </a:buClr>
              <a:buSzPts val="2000"/>
              <a:buFont typeface="Arial"/>
              <a:buNone/>
            </a:pPr>
            <a:r>
              <a:rPr lang="en-US" sz="2000" b="1" i="0" u="none" strike="noStrike" cap="none" dirty="0">
                <a:solidFill>
                  <a:srgbClr val="0D0D0D"/>
                </a:solidFill>
                <a:latin typeface="Arial"/>
                <a:ea typeface="Arial"/>
                <a:cs typeface="Arial"/>
                <a:sym typeface="Arial"/>
              </a:rPr>
              <a:t>Slide 10: Thank You </a:t>
            </a:r>
            <a:endParaRPr dirty="0"/>
          </a:p>
          <a:p>
            <a:pPr marL="228600" marR="0" lvl="0" indent="-228600" algn="l" rtl="0">
              <a:lnSpc>
                <a:spcPct val="90000"/>
              </a:lnSpc>
              <a:spcBef>
                <a:spcPts val="1000"/>
              </a:spcBef>
              <a:spcAft>
                <a:spcPts val="0"/>
              </a:spcAft>
              <a:buClr>
                <a:srgbClr val="0D0D0D"/>
              </a:buClr>
              <a:buSzPts val="1800"/>
              <a:buFont typeface="Arial"/>
              <a:buChar char="•"/>
            </a:pPr>
            <a:r>
              <a:rPr lang="en-US" sz="1800" b="0" i="0" u="none" strike="noStrike" cap="none" dirty="0">
                <a:solidFill>
                  <a:srgbClr val="0D0D0D"/>
                </a:solidFill>
                <a:latin typeface="Arial"/>
                <a:ea typeface="Arial"/>
                <a:cs typeface="Arial"/>
                <a:sym typeface="Arial"/>
              </a:rPr>
              <a:t>Contact information for follow-up</a:t>
            </a:r>
            <a:endParaRPr dirty="0"/>
          </a:p>
          <a:p>
            <a:pPr marL="228600" marR="0" lvl="0" indent="-228600" algn="l" rtl="0">
              <a:lnSpc>
                <a:spcPct val="90000"/>
              </a:lnSpc>
              <a:spcBef>
                <a:spcPts val="1000"/>
              </a:spcBef>
              <a:spcAft>
                <a:spcPts val="0"/>
              </a:spcAft>
              <a:buClr>
                <a:srgbClr val="0D0D0D"/>
              </a:buClr>
              <a:buSzPts val="1800"/>
              <a:buFont typeface="Arial"/>
              <a:buChar char="•"/>
            </a:pPr>
            <a:r>
              <a:rPr lang="en-US" sz="1800" b="0" i="0" u="none" strike="noStrike" cap="none" dirty="0">
                <a:solidFill>
                  <a:srgbClr val="0D0D0D"/>
                </a:solidFill>
                <a:latin typeface="Arial"/>
                <a:ea typeface="Arial"/>
                <a:cs typeface="Arial"/>
                <a:sym typeface="Arial"/>
              </a:rPr>
              <a:t>Invitation for questions or feedback</a:t>
            </a:r>
            <a:endParaRPr dirty="0"/>
          </a:p>
        </p:txBody>
      </p:sp>
      <p:pic>
        <p:nvPicPr>
          <p:cNvPr id="2" name="Google Shape;110;p1">
            <a:extLst>
              <a:ext uri="{FF2B5EF4-FFF2-40B4-BE49-F238E27FC236}">
                <a16:creationId xmlns:a16="http://schemas.microsoft.com/office/drawing/2014/main" id="{EEF23E53-BC50-EAD2-E1C7-F84DDAAA679F}"/>
              </a:ext>
            </a:extLst>
          </p:cNvPr>
          <p:cNvPicPr preferRelativeResize="0"/>
          <p:nvPr/>
        </p:nvPicPr>
        <p:blipFill>
          <a:blip r:embed="rId3"/>
          <a:srcRect/>
          <a:stretch/>
        </p:blipFill>
        <p:spPr>
          <a:xfrm>
            <a:off x="9010943" y="6291124"/>
            <a:ext cx="1362250" cy="3651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11/30/25</a:t>
            </a:r>
          </a:p>
        </p:txBody>
      </p:sp>
      <p:sp>
        <p:nvSpPr>
          <p:cNvPr id="146" name="Google Shape;146;p5"/>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47" name="Google Shape;147;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148" name="Google Shape;148;p5"/>
          <p:cNvSpPr txBox="1"/>
          <p:nvPr/>
        </p:nvSpPr>
        <p:spPr>
          <a:xfrm>
            <a:off x="323665" y="1347629"/>
            <a:ext cx="3111685" cy="365125"/>
          </a:xfrm>
          <a:prstGeom prst="rect">
            <a:avLst/>
          </a:prstGeom>
          <a:noFill/>
          <a:ln>
            <a:noFill/>
          </a:ln>
        </p:spPr>
        <p:txBody>
          <a:bodyPr spcFirstLastPara="1" wrap="square" lIns="91425" tIns="45700" rIns="91425" bIns="45700" anchor="t" anchorCtr="0">
            <a:normAutofit fontScale="75000" lnSpcReduction="20000"/>
          </a:bodyPr>
          <a:lstStyle/>
          <a:p>
            <a:pPr marL="0" marR="0" lvl="0" indent="0" algn="l" rtl="0">
              <a:lnSpc>
                <a:spcPct val="90000"/>
              </a:lnSpc>
              <a:spcBef>
                <a:spcPts val="0"/>
              </a:spcBef>
              <a:spcAft>
                <a:spcPts val="0"/>
              </a:spcAft>
              <a:buClr>
                <a:srgbClr val="FF0000"/>
              </a:buClr>
              <a:buSzPct val="100000"/>
              <a:buFont typeface="Arial"/>
              <a:buNone/>
            </a:pPr>
            <a:r>
              <a:rPr lang="en-US" sz="2200" b="1" i="0" u="none" strike="noStrike" cap="none">
                <a:solidFill>
                  <a:srgbClr val="FF0000"/>
                </a:solidFill>
                <a:latin typeface="Arial"/>
                <a:ea typeface="Arial"/>
                <a:cs typeface="Arial"/>
                <a:sym typeface="Arial"/>
              </a:rPr>
              <a:t>MANDATORY</a:t>
            </a:r>
            <a:r>
              <a:rPr lang="en-US" sz="2200" b="1" i="0" u="none" strike="noStrike" cap="none">
                <a:solidFill>
                  <a:srgbClr val="0D0D0D"/>
                </a:solidFill>
                <a:latin typeface="Arial"/>
                <a:ea typeface="Arial"/>
                <a:cs typeface="Arial"/>
                <a:sym typeface="Arial"/>
              </a:rPr>
              <a:t> Color Scheme </a:t>
            </a:r>
            <a:endParaRPr/>
          </a:p>
        </p:txBody>
      </p:sp>
      <p:pic>
        <p:nvPicPr>
          <p:cNvPr id="149" name="Google Shape;149;p5"/>
          <p:cNvPicPr preferRelativeResize="0"/>
          <p:nvPr/>
        </p:nvPicPr>
        <p:blipFill rotWithShape="1">
          <a:blip r:embed="rId3">
            <a:alphaModFix/>
          </a:blip>
          <a:srcRect r="37210"/>
          <a:stretch/>
        </p:blipFill>
        <p:spPr>
          <a:xfrm>
            <a:off x="3581401" y="833618"/>
            <a:ext cx="3259238" cy="5190763"/>
          </a:xfrm>
          <a:prstGeom prst="rect">
            <a:avLst/>
          </a:prstGeom>
          <a:noFill/>
          <a:ln>
            <a:noFill/>
          </a:ln>
        </p:spPr>
      </p:pic>
      <p:sp>
        <p:nvSpPr>
          <p:cNvPr id="150" name="Google Shape;150;p5"/>
          <p:cNvSpPr txBox="1"/>
          <p:nvPr/>
        </p:nvSpPr>
        <p:spPr>
          <a:xfrm>
            <a:off x="4863564" y="2013995"/>
            <a:ext cx="101181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Open Sans"/>
                <a:ea typeface="Open Sans"/>
                <a:cs typeface="Open Sans"/>
                <a:sym typeface="Open Sans"/>
              </a:rPr>
              <a:t>#047954</a:t>
            </a:r>
            <a:endParaRPr sz="1800">
              <a:solidFill>
                <a:schemeClr val="dk1"/>
              </a:solidFill>
              <a:latin typeface="Calibri"/>
              <a:ea typeface="Calibri"/>
              <a:cs typeface="Calibri"/>
              <a:sym typeface="Calibri"/>
            </a:endParaRPr>
          </a:p>
        </p:txBody>
      </p:sp>
      <p:sp>
        <p:nvSpPr>
          <p:cNvPr id="151" name="Google Shape;151;p5"/>
          <p:cNvSpPr txBox="1"/>
          <p:nvPr/>
        </p:nvSpPr>
        <p:spPr>
          <a:xfrm>
            <a:off x="4843718" y="3139510"/>
            <a:ext cx="105150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a:solidFill>
                  <a:schemeClr val="dk1"/>
                </a:solidFill>
                <a:latin typeface="Open Sans"/>
                <a:ea typeface="Open Sans"/>
                <a:cs typeface="Open Sans"/>
                <a:sym typeface="Open Sans"/>
              </a:rPr>
              <a:t>#0FAB7D</a:t>
            </a:r>
            <a:endParaRPr sz="1800">
              <a:solidFill>
                <a:schemeClr val="dk1"/>
              </a:solidFill>
              <a:latin typeface="Calibri"/>
              <a:ea typeface="Calibri"/>
              <a:cs typeface="Calibri"/>
              <a:sym typeface="Calibri"/>
            </a:endParaRPr>
          </a:p>
        </p:txBody>
      </p:sp>
      <p:sp>
        <p:nvSpPr>
          <p:cNvPr id="152" name="Google Shape;152;p5"/>
          <p:cNvSpPr txBox="1"/>
          <p:nvPr/>
        </p:nvSpPr>
        <p:spPr>
          <a:xfrm>
            <a:off x="4854747" y="4212613"/>
            <a:ext cx="102944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a:solidFill>
                  <a:schemeClr val="dk1"/>
                </a:solidFill>
                <a:latin typeface="Open Sans"/>
                <a:ea typeface="Open Sans"/>
                <a:cs typeface="Open Sans"/>
                <a:sym typeface="Open Sans"/>
              </a:rPr>
              <a:t>#336EA8</a:t>
            </a:r>
            <a:endParaRPr sz="1800">
              <a:solidFill>
                <a:schemeClr val="dk1"/>
              </a:solidFill>
              <a:latin typeface="Calibri"/>
              <a:ea typeface="Calibri"/>
              <a:cs typeface="Calibri"/>
              <a:sym typeface="Calibri"/>
            </a:endParaRPr>
          </a:p>
        </p:txBody>
      </p:sp>
      <p:sp>
        <p:nvSpPr>
          <p:cNvPr id="153" name="Google Shape;153;p5"/>
          <p:cNvSpPr txBox="1"/>
          <p:nvPr/>
        </p:nvSpPr>
        <p:spPr>
          <a:xfrm>
            <a:off x="4863564" y="5141039"/>
            <a:ext cx="105349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a:solidFill>
                  <a:schemeClr val="dk1"/>
                </a:solidFill>
                <a:latin typeface="Open Sans"/>
                <a:ea typeface="Open Sans"/>
                <a:cs typeface="Open Sans"/>
                <a:sym typeface="Open Sans"/>
              </a:rPr>
              <a:t>#D7B119</a:t>
            </a:r>
            <a:endParaRPr sz="1800">
              <a:solidFill>
                <a:schemeClr val="dk1"/>
              </a:solidFill>
              <a:latin typeface="Calibri"/>
              <a:ea typeface="Calibri"/>
              <a:cs typeface="Calibri"/>
              <a:sym typeface="Calibri"/>
            </a:endParaRPr>
          </a:p>
        </p:txBody>
      </p:sp>
      <p:sp>
        <p:nvSpPr>
          <p:cNvPr id="154" name="Google Shape;154;p5"/>
          <p:cNvSpPr txBox="1"/>
          <p:nvPr/>
        </p:nvSpPr>
        <p:spPr>
          <a:xfrm>
            <a:off x="317315" y="1754630"/>
            <a:ext cx="2743200" cy="1590321"/>
          </a:xfrm>
          <a:prstGeom prst="rect">
            <a:avLst/>
          </a:prstGeom>
          <a:noFill/>
          <a:ln>
            <a:noFill/>
          </a:ln>
        </p:spPr>
        <p:txBody>
          <a:bodyPr spcFirstLastPara="1" wrap="square" lIns="91425" tIns="45700" rIns="91425" bIns="45700" anchor="ctr" anchorCtr="0">
            <a:normAutofit fontScale="97500"/>
          </a:bodyPr>
          <a:lstStyle/>
          <a:p>
            <a:pPr marL="0" marR="0" lvl="0" indent="0" algn="l" rtl="0">
              <a:lnSpc>
                <a:spcPct val="90000"/>
              </a:lnSpc>
              <a:spcBef>
                <a:spcPts val="0"/>
              </a:spcBef>
              <a:spcAft>
                <a:spcPts val="0"/>
              </a:spcAft>
              <a:buClr>
                <a:srgbClr val="FF0000"/>
              </a:buClr>
              <a:buSzPct val="100000"/>
              <a:buFont typeface="Arial"/>
              <a:buNone/>
            </a:pPr>
            <a:r>
              <a:rPr lang="en-US" sz="2000" b="1" u="none">
                <a:solidFill>
                  <a:srgbClr val="FF0000"/>
                </a:solidFill>
                <a:latin typeface="Arial"/>
                <a:ea typeface="Arial"/>
                <a:cs typeface="Arial"/>
                <a:sym typeface="Arial"/>
              </a:rPr>
              <a:t>Note: </a:t>
            </a:r>
            <a:r>
              <a:rPr lang="en-US" sz="2000" b="1" u="none">
                <a:solidFill>
                  <a:srgbClr val="0D0D0D"/>
                </a:solidFill>
                <a:latin typeface="Arial"/>
                <a:ea typeface="Arial"/>
                <a:cs typeface="Arial"/>
                <a:sym typeface="Arial"/>
              </a:rPr>
              <a:t>This is the official</a:t>
            </a:r>
            <a:endParaRPr/>
          </a:p>
          <a:p>
            <a:pPr marL="0" marR="0" lvl="0" indent="0" algn="l" rtl="0">
              <a:lnSpc>
                <a:spcPct val="90000"/>
              </a:lnSpc>
              <a:spcBef>
                <a:spcPts val="0"/>
              </a:spcBef>
              <a:spcAft>
                <a:spcPts val="0"/>
              </a:spcAft>
              <a:buClr>
                <a:srgbClr val="0D0D0D"/>
              </a:buClr>
              <a:buSzPct val="100000"/>
              <a:buFont typeface="Arial"/>
              <a:buNone/>
            </a:pPr>
            <a:r>
              <a:rPr lang="en-US" sz="2000" b="1" u="none">
                <a:solidFill>
                  <a:srgbClr val="0D0D0D"/>
                </a:solidFill>
                <a:latin typeface="Arial"/>
                <a:ea typeface="Arial"/>
                <a:cs typeface="Arial"/>
                <a:sym typeface="Arial"/>
              </a:rPr>
              <a:t> color scheme for DEPI</a:t>
            </a:r>
            <a:endParaRPr/>
          </a:p>
          <a:p>
            <a:pPr marL="0" marR="0" lvl="0" indent="0" algn="l" rtl="0">
              <a:lnSpc>
                <a:spcPct val="90000"/>
              </a:lnSpc>
              <a:spcBef>
                <a:spcPts val="0"/>
              </a:spcBef>
              <a:spcAft>
                <a:spcPts val="0"/>
              </a:spcAft>
              <a:buClr>
                <a:srgbClr val="0D0D0D"/>
              </a:buClr>
              <a:buSzPct val="100000"/>
              <a:buFont typeface="Arial"/>
              <a:buNone/>
            </a:pPr>
            <a:r>
              <a:rPr lang="en-US" sz="2000" b="1" u="none">
                <a:solidFill>
                  <a:srgbClr val="0D0D0D"/>
                </a:solidFill>
                <a:latin typeface="Arial"/>
                <a:ea typeface="Arial"/>
                <a:cs typeface="Arial"/>
                <a:sym typeface="Arial"/>
              </a:rPr>
              <a:t> Feel free To use it  </a:t>
            </a:r>
            <a:endParaRPr sz="2000" b="1" u="none">
              <a:solidFill>
                <a:schemeClr val="dk1"/>
              </a:solidFill>
              <a:latin typeface="Calibri"/>
              <a:ea typeface="Calibri"/>
              <a:cs typeface="Calibri"/>
              <a:sym typeface="Calibri"/>
            </a:endParaRPr>
          </a:p>
        </p:txBody>
      </p:sp>
      <p:pic>
        <p:nvPicPr>
          <p:cNvPr id="2" name="Google Shape;110;p1">
            <a:extLst>
              <a:ext uri="{FF2B5EF4-FFF2-40B4-BE49-F238E27FC236}">
                <a16:creationId xmlns:a16="http://schemas.microsoft.com/office/drawing/2014/main" id="{AA3780D9-C96C-A177-A872-B92ACFDD1291}"/>
              </a:ext>
            </a:extLst>
          </p:cNvPr>
          <p:cNvPicPr preferRelativeResize="0"/>
          <p:nvPr/>
        </p:nvPicPr>
        <p:blipFill>
          <a:blip r:embed="rId4"/>
          <a:srcRect/>
          <a:stretch/>
        </p:blipFill>
        <p:spPr>
          <a:xfrm>
            <a:off x="9010943" y="6291124"/>
            <a:ext cx="1362250" cy="3651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dk1"/>
              </a:buClr>
              <a:buSzPts val="6000"/>
              <a:buFont typeface="Calibri"/>
              <a:buNone/>
            </a:pPr>
            <a:r>
              <a:rPr lang="en-US" dirty="0"/>
              <a:t>Hyper Tech – Data Analytics &amp; Business Intelligence Project</a:t>
            </a:r>
            <a:endParaRPr dirty="0"/>
          </a:p>
        </p:txBody>
      </p:sp>
      <p:sp>
        <p:nvSpPr>
          <p:cNvPr id="161" name="Google Shape;161;p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dirty="0"/>
              <a:t>Maged Magdy </a:t>
            </a:r>
            <a:r>
              <a:rPr lang="en-US" dirty="0" err="1"/>
              <a:t>Nageeb</a:t>
            </a:r>
            <a:r>
              <a:rPr lang="en-US" dirty="0"/>
              <a:t> Elias</a:t>
            </a:r>
            <a:endParaRPr dirty="0"/>
          </a:p>
        </p:txBody>
      </p:sp>
      <p:sp>
        <p:nvSpPr>
          <p:cNvPr id="162" name="Google Shape;16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11/30/25</a:t>
            </a:r>
          </a:p>
        </p:txBody>
      </p:sp>
      <p:sp>
        <p:nvSpPr>
          <p:cNvPr id="163" name="Google Shape;163;p6"/>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1</a:t>
            </a:r>
            <a:endParaRPr dirty="0"/>
          </a:p>
        </p:txBody>
      </p:sp>
      <p:sp>
        <p:nvSpPr>
          <p:cNvPr id="164" name="Google Shape;16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pic>
        <p:nvPicPr>
          <p:cNvPr id="2" name="Google Shape;110;p1">
            <a:extLst>
              <a:ext uri="{FF2B5EF4-FFF2-40B4-BE49-F238E27FC236}">
                <a16:creationId xmlns:a16="http://schemas.microsoft.com/office/drawing/2014/main" id="{D76960BE-DA68-AD54-037E-4185C12CA702}"/>
              </a:ext>
            </a:extLst>
          </p:cNvPr>
          <p:cNvPicPr preferRelativeResize="0"/>
          <p:nvPr/>
        </p:nvPicPr>
        <p:blipFill>
          <a:blip r:embed="rId3"/>
          <a:srcRect/>
          <a:stretch/>
        </p:blipFill>
        <p:spPr>
          <a:xfrm>
            <a:off x="9010943" y="6291124"/>
            <a:ext cx="1362250" cy="3651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7"/>
          <p:cNvSpPr txBox="1">
            <a:spLocks noGrp="1"/>
          </p:cNvSpPr>
          <p:nvPr>
            <p:ph type="title"/>
          </p:nvPr>
        </p:nvSpPr>
        <p:spPr>
          <a:xfrm>
            <a:off x="4373880" y="1820390"/>
            <a:ext cx="7339584" cy="87210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2000" b="1" dirty="0"/>
              <a:t>Problem:</a:t>
            </a:r>
            <a:r>
              <a:rPr lang="en-US" sz="2000" dirty="0"/>
              <a:t> Hyper Tech had no analytical system to monitor sales, customers, products, or returns.</a:t>
            </a:r>
            <a:endParaRPr sz="2000" dirty="0"/>
          </a:p>
        </p:txBody>
      </p:sp>
      <p:sp>
        <p:nvSpPr>
          <p:cNvPr id="171" name="Google Shape;17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11/30/25</a:t>
            </a:r>
          </a:p>
        </p:txBody>
      </p:sp>
      <p:sp>
        <p:nvSpPr>
          <p:cNvPr id="172" name="Google Shape;172;p7"/>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2</a:t>
            </a:r>
            <a:endParaRPr dirty="0"/>
          </a:p>
        </p:txBody>
      </p:sp>
      <p:sp>
        <p:nvSpPr>
          <p:cNvPr id="173" name="Google Shape;17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dirty="0"/>
          </a:p>
        </p:txBody>
      </p:sp>
      <p:pic>
        <p:nvPicPr>
          <p:cNvPr id="174" name="Google Shape;174;p7"/>
          <p:cNvPicPr preferRelativeResize="0"/>
          <p:nvPr/>
        </p:nvPicPr>
        <p:blipFill rotWithShape="1">
          <a:blip r:embed="rId3">
            <a:alphaModFix/>
          </a:blip>
          <a:srcRect/>
          <a:stretch/>
        </p:blipFill>
        <p:spPr>
          <a:xfrm>
            <a:off x="838200" y="1627632"/>
            <a:ext cx="3112008" cy="3122122"/>
          </a:xfrm>
          <a:prstGeom prst="roundRect">
            <a:avLst>
              <a:gd name="adj" fmla="val 4167"/>
            </a:avLst>
          </a:prstGeom>
          <a:solidFill>
            <a:srgbClr val="FFFFFF"/>
          </a:solidFill>
          <a:ln w="76200" cap="sq" cmpd="sng">
            <a:solidFill>
              <a:srgbClr val="336EA8"/>
            </a:solidFill>
            <a:prstDash val="solid"/>
            <a:miter lim="800000"/>
            <a:headEnd type="none" w="sm" len="sm"/>
            <a:tailEnd type="none" w="sm" len="sm"/>
          </a:ln>
          <a:effectLst>
            <a:reflection stA="28000" endPos="28000" dist="5000" dir="5400000" sy="-100000" algn="bl" rotWithShape="0"/>
          </a:effectLst>
        </p:spPr>
      </p:pic>
      <p:pic>
        <p:nvPicPr>
          <p:cNvPr id="2" name="Google Shape;110;p1">
            <a:extLst>
              <a:ext uri="{FF2B5EF4-FFF2-40B4-BE49-F238E27FC236}">
                <a16:creationId xmlns:a16="http://schemas.microsoft.com/office/drawing/2014/main" id="{203067B1-3EC8-45DB-2361-DD07914C4FB8}"/>
              </a:ext>
            </a:extLst>
          </p:cNvPr>
          <p:cNvPicPr preferRelativeResize="0"/>
          <p:nvPr/>
        </p:nvPicPr>
        <p:blipFill>
          <a:blip r:embed="rId4"/>
          <a:srcRect/>
          <a:stretch/>
        </p:blipFill>
        <p:spPr>
          <a:xfrm>
            <a:off x="9010943" y="6291124"/>
            <a:ext cx="1362250" cy="365125"/>
          </a:xfrm>
          <a:prstGeom prst="rect">
            <a:avLst/>
          </a:prstGeom>
          <a:noFill/>
          <a:ln>
            <a:noFill/>
          </a:ln>
        </p:spPr>
      </p:pic>
      <p:pic>
        <p:nvPicPr>
          <p:cNvPr id="6" name="Picture 5">
            <a:extLst>
              <a:ext uri="{FF2B5EF4-FFF2-40B4-BE49-F238E27FC236}">
                <a16:creationId xmlns:a16="http://schemas.microsoft.com/office/drawing/2014/main" id="{017EE3B8-ED2F-A147-60BC-939E68FA6683}"/>
              </a:ext>
            </a:extLst>
          </p:cNvPr>
          <p:cNvPicPr>
            <a:picLocks noChangeAspect="1"/>
          </p:cNvPicPr>
          <p:nvPr/>
        </p:nvPicPr>
        <p:blipFill>
          <a:blip r:embed="rId5"/>
          <a:stretch>
            <a:fillRect/>
          </a:stretch>
        </p:blipFill>
        <p:spPr>
          <a:xfrm>
            <a:off x="884488" y="1691639"/>
            <a:ext cx="3019432" cy="2978041"/>
          </a:xfrm>
          <a:prstGeom prst="rect">
            <a:avLst/>
          </a:prstGeom>
        </p:spPr>
      </p:pic>
      <p:sp>
        <p:nvSpPr>
          <p:cNvPr id="8" name="TextBox 7">
            <a:extLst>
              <a:ext uri="{FF2B5EF4-FFF2-40B4-BE49-F238E27FC236}">
                <a16:creationId xmlns:a16="http://schemas.microsoft.com/office/drawing/2014/main" id="{44242940-B158-72A3-C68F-FF1EE2C17310}"/>
              </a:ext>
            </a:extLst>
          </p:cNvPr>
          <p:cNvSpPr txBox="1"/>
          <p:nvPr/>
        </p:nvSpPr>
        <p:spPr>
          <a:xfrm>
            <a:off x="4373880" y="2819951"/>
            <a:ext cx="7339584" cy="707886"/>
          </a:xfrm>
          <a:prstGeom prst="rect">
            <a:avLst/>
          </a:prstGeom>
          <a:noFill/>
        </p:spPr>
        <p:txBody>
          <a:bodyPr wrap="square" rtlCol="0">
            <a:spAutoFit/>
          </a:bodyPr>
          <a:lstStyle/>
          <a:p>
            <a:r>
              <a:rPr lang="en-US" sz="2000" b="1" dirty="0">
                <a:solidFill>
                  <a:schemeClr val="dk1"/>
                </a:solidFill>
                <a:latin typeface="Calibri"/>
                <a:ea typeface="Calibri"/>
                <a:cs typeface="Calibri"/>
                <a:sym typeface="Calibri"/>
              </a:rPr>
              <a:t>Solution: </a:t>
            </a:r>
            <a:r>
              <a:rPr lang="en-US" sz="2000" dirty="0">
                <a:solidFill>
                  <a:schemeClr val="dk1"/>
                </a:solidFill>
                <a:latin typeface="Calibri"/>
                <a:ea typeface="Calibri"/>
                <a:cs typeface="Calibri"/>
                <a:sym typeface="Calibri"/>
              </a:rPr>
              <a:t>Build a complete BI solution using a structured data model + interactive dashboards.</a:t>
            </a:r>
          </a:p>
        </p:txBody>
      </p:sp>
      <p:sp>
        <p:nvSpPr>
          <p:cNvPr id="9" name="TextBox 8">
            <a:extLst>
              <a:ext uri="{FF2B5EF4-FFF2-40B4-BE49-F238E27FC236}">
                <a16:creationId xmlns:a16="http://schemas.microsoft.com/office/drawing/2014/main" id="{66DA5529-9DA7-CDF1-B0B8-8C1B92828C2C}"/>
              </a:ext>
            </a:extLst>
          </p:cNvPr>
          <p:cNvSpPr txBox="1"/>
          <p:nvPr/>
        </p:nvSpPr>
        <p:spPr>
          <a:xfrm>
            <a:off x="4373880" y="3684106"/>
            <a:ext cx="6979920" cy="707886"/>
          </a:xfrm>
          <a:prstGeom prst="rect">
            <a:avLst/>
          </a:prstGeom>
          <a:noFill/>
        </p:spPr>
        <p:txBody>
          <a:bodyPr wrap="square" rtlCol="0">
            <a:spAutoFit/>
          </a:bodyPr>
          <a:lstStyle/>
          <a:p>
            <a:r>
              <a:rPr lang="en-US" sz="2000" b="1" dirty="0">
                <a:solidFill>
                  <a:schemeClr val="dk1"/>
                </a:solidFill>
                <a:latin typeface="Calibri"/>
                <a:ea typeface="Calibri"/>
                <a:cs typeface="Calibri"/>
              </a:rPr>
              <a:t>Unique Value: </a:t>
            </a:r>
            <a:r>
              <a:rPr lang="en-US" sz="2000" dirty="0">
                <a:solidFill>
                  <a:schemeClr val="dk1"/>
                </a:solidFill>
                <a:latin typeface="Calibri"/>
                <a:ea typeface="Calibri"/>
                <a:cs typeface="Calibri"/>
              </a:rPr>
              <a:t>Multi-platform dashboards (Power BI + Tableau), star schema, and full data transformation pipeline.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9"/>
          <p:cNvSpPr txBox="1">
            <a:spLocks noGrp="1"/>
          </p:cNvSpPr>
          <p:nvPr>
            <p:ph type="title"/>
          </p:nvPr>
        </p:nvSpPr>
        <p:spPr>
          <a:xfrm>
            <a:off x="4322223" y="1023148"/>
            <a:ext cx="6434009" cy="104584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2400" dirty="0"/>
              <a:t>The dashboard uses a clean navigation flow: Menu → KPIs → Customers → Products → Map</a:t>
            </a:r>
            <a:endParaRPr sz="2400" dirty="0"/>
          </a:p>
        </p:txBody>
      </p:sp>
      <p:sp>
        <p:nvSpPr>
          <p:cNvPr id="192" name="Google Shape;19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11/30/25</a:t>
            </a:r>
          </a:p>
        </p:txBody>
      </p:sp>
      <p:sp>
        <p:nvSpPr>
          <p:cNvPr id="193" name="Google Shape;193;p9"/>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3</a:t>
            </a:r>
            <a:endParaRPr dirty="0"/>
          </a:p>
        </p:txBody>
      </p:sp>
      <p:sp>
        <p:nvSpPr>
          <p:cNvPr id="194" name="Google Shape;19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pic>
        <p:nvPicPr>
          <p:cNvPr id="195" name="Google Shape;195;p9"/>
          <p:cNvPicPr preferRelativeResize="0"/>
          <p:nvPr/>
        </p:nvPicPr>
        <p:blipFill rotWithShape="1">
          <a:blip r:embed="rId3">
            <a:alphaModFix/>
          </a:blip>
          <a:srcRect/>
          <a:stretch/>
        </p:blipFill>
        <p:spPr>
          <a:xfrm>
            <a:off x="287593" y="1305237"/>
            <a:ext cx="3406140" cy="1910642"/>
          </a:xfrm>
          <a:prstGeom prst="snip2DiagRect">
            <a:avLst>
              <a:gd name="adj1" fmla="val 0"/>
              <a:gd name="adj2" fmla="val 16667"/>
            </a:avLst>
          </a:prstGeom>
          <a:solidFill>
            <a:srgbClr val="ECECEC"/>
          </a:solidFill>
          <a:ln w="88900" cap="sq" cmpd="sng">
            <a:solidFill>
              <a:srgbClr val="336EA8"/>
            </a:solidFill>
            <a:prstDash val="solid"/>
            <a:miter lim="800000"/>
            <a:headEnd type="none" w="sm" len="sm"/>
            <a:tailEnd type="none" w="sm" len="sm"/>
          </a:ln>
          <a:effectLst>
            <a:outerShdw blurRad="88900" algn="tl" rotWithShape="0">
              <a:srgbClr val="000000">
                <a:alpha val="44705"/>
              </a:srgbClr>
            </a:outerShdw>
          </a:effectLst>
        </p:spPr>
      </p:pic>
      <p:pic>
        <p:nvPicPr>
          <p:cNvPr id="2" name="Google Shape;110;p1">
            <a:extLst>
              <a:ext uri="{FF2B5EF4-FFF2-40B4-BE49-F238E27FC236}">
                <a16:creationId xmlns:a16="http://schemas.microsoft.com/office/drawing/2014/main" id="{C325A2E1-EEF7-90FC-497A-243250923499}"/>
              </a:ext>
            </a:extLst>
          </p:cNvPr>
          <p:cNvPicPr preferRelativeResize="0"/>
          <p:nvPr/>
        </p:nvPicPr>
        <p:blipFill>
          <a:blip r:embed="rId4"/>
          <a:srcRect/>
          <a:stretch/>
        </p:blipFill>
        <p:spPr>
          <a:xfrm>
            <a:off x="9010943" y="6291124"/>
            <a:ext cx="1362250" cy="365125"/>
          </a:xfrm>
          <a:prstGeom prst="rect">
            <a:avLst/>
          </a:prstGeom>
          <a:noFill/>
          <a:ln>
            <a:noFill/>
          </a:ln>
        </p:spPr>
      </p:pic>
      <p:pic>
        <p:nvPicPr>
          <p:cNvPr id="6" name="Picture 5">
            <a:extLst>
              <a:ext uri="{FF2B5EF4-FFF2-40B4-BE49-F238E27FC236}">
                <a16:creationId xmlns:a16="http://schemas.microsoft.com/office/drawing/2014/main" id="{75B498D8-B2FD-3646-79D9-F50EE144479C}"/>
              </a:ext>
            </a:extLst>
          </p:cNvPr>
          <p:cNvPicPr>
            <a:picLocks noChangeAspect="1"/>
          </p:cNvPicPr>
          <p:nvPr/>
        </p:nvPicPr>
        <p:blipFill rotWithShape="1">
          <a:blip r:embed="rId5"/>
          <a:srcRect l="2137" t="15053" r="31749" b="18738"/>
          <a:stretch/>
        </p:blipFill>
        <p:spPr>
          <a:xfrm>
            <a:off x="294132" y="1285875"/>
            <a:ext cx="3399601" cy="1910642"/>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7" name="Google Shape;195;p9">
            <a:extLst>
              <a:ext uri="{FF2B5EF4-FFF2-40B4-BE49-F238E27FC236}">
                <a16:creationId xmlns:a16="http://schemas.microsoft.com/office/drawing/2014/main" id="{540D46F8-C675-E8FA-0B73-6A3DD5AFC08F}"/>
              </a:ext>
            </a:extLst>
          </p:cNvPr>
          <p:cNvPicPr preferRelativeResize="0"/>
          <p:nvPr/>
        </p:nvPicPr>
        <p:blipFill rotWithShape="1">
          <a:blip r:embed="rId3">
            <a:alphaModFix/>
          </a:blip>
          <a:srcRect/>
          <a:stretch/>
        </p:blipFill>
        <p:spPr>
          <a:xfrm>
            <a:off x="294132" y="3572679"/>
            <a:ext cx="1483276" cy="2407509"/>
          </a:xfrm>
          <a:prstGeom prst="snip2DiagRect">
            <a:avLst>
              <a:gd name="adj1" fmla="val 0"/>
              <a:gd name="adj2" fmla="val 16667"/>
            </a:avLst>
          </a:prstGeom>
          <a:solidFill>
            <a:srgbClr val="ECECEC"/>
          </a:solidFill>
          <a:ln w="88900" cap="sq" cmpd="sng">
            <a:solidFill>
              <a:srgbClr val="336EA8"/>
            </a:solidFill>
            <a:prstDash val="solid"/>
            <a:miter lim="800000"/>
            <a:headEnd type="none" w="sm" len="sm"/>
            <a:tailEnd type="none" w="sm" len="sm"/>
          </a:ln>
          <a:effectLst>
            <a:outerShdw blurRad="88900" algn="tl" rotWithShape="0">
              <a:srgbClr val="000000">
                <a:alpha val="44705"/>
              </a:srgbClr>
            </a:outerShdw>
          </a:effectLst>
        </p:spPr>
      </p:pic>
      <p:pic>
        <p:nvPicPr>
          <p:cNvPr id="9" name="Picture 8">
            <a:extLst>
              <a:ext uri="{FF2B5EF4-FFF2-40B4-BE49-F238E27FC236}">
                <a16:creationId xmlns:a16="http://schemas.microsoft.com/office/drawing/2014/main" id="{E2A7BC02-9B9F-AC8C-82EC-1B54D72EA8A0}"/>
              </a:ext>
            </a:extLst>
          </p:cNvPr>
          <p:cNvPicPr>
            <a:picLocks noChangeAspect="1"/>
          </p:cNvPicPr>
          <p:nvPr/>
        </p:nvPicPr>
        <p:blipFill rotWithShape="1">
          <a:blip r:embed="rId6"/>
          <a:srcRect l="6198" t="17453" r="75550" b="29858"/>
          <a:stretch/>
        </p:blipFill>
        <p:spPr>
          <a:xfrm>
            <a:off x="294132" y="3572679"/>
            <a:ext cx="1483276" cy="2407509"/>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0" name="TextBox 9">
            <a:extLst>
              <a:ext uri="{FF2B5EF4-FFF2-40B4-BE49-F238E27FC236}">
                <a16:creationId xmlns:a16="http://schemas.microsoft.com/office/drawing/2014/main" id="{80464965-760C-E915-DDF1-88D1C36DFD5E}"/>
              </a:ext>
            </a:extLst>
          </p:cNvPr>
          <p:cNvSpPr txBox="1"/>
          <p:nvPr/>
        </p:nvSpPr>
        <p:spPr>
          <a:xfrm>
            <a:off x="2400193" y="5356127"/>
            <a:ext cx="4273062" cy="707886"/>
          </a:xfrm>
          <a:prstGeom prst="rect">
            <a:avLst/>
          </a:prstGeom>
          <a:noFill/>
        </p:spPr>
        <p:txBody>
          <a:bodyPr wrap="square" rtlCol="0">
            <a:spAutoFit/>
          </a:bodyPr>
          <a:lstStyle/>
          <a:p>
            <a:r>
              <a:rPr lang="en-US" sz="2000" dirty="0"/>
              <a:t>Filter popup provides flexible control (Year, Country, Category)</a:t>
            </a:r>
          </a:p>
        </p:txBody>
      </p:sp>
      <p:sp>
        <p:nvSpPr>
          <p:cNvPr id="12" name="TextBox 11">
            <a:extLst>
              <a:ext uri="{FF2B5EF4-FFF2-40B4-BE49-F238E27FC236}">
                <a16:creationId xmlns:a16="http://schemas.microsoft.com/office/drawing/2014/main" id="{7CDF38F7-EE24-2635-DF82-4F3DDFAC3432}"/>
              </a:ext>
            </a:extLst>
          </p:cNvPr>
          <p:cNvSpPr txBox="1"/>
          <p:nvPr/>
        </p:nvSpPr>
        <p:spPr>
          <a:xfrm>
            <a:off x="3846292" y="1496792"/>
            <a:ext cx="475931" cy="584775"/>
          </a:xfrm>
          <a:prstGeom prst="rect">
            <a:avLst/>
          </a:prstGeom>
          <a:noFill/>
        </p:spPr>
        <p:txBody>
          <a:bodyPr wrap="square">
            <a:spAutoFit/>
          </a:bodyPr>
          <a:lstStyle/>
          <a:p>
            <a:r>
              <a:rPr lang="en-US" sz="3200" dirty="0"/>
              <a:t>→</a:t>
            </a:r>
          </a:p>
        </p:txBody>
      </p:sp>
      <p:sp>
        <p:nvSpPr>
          <p:cNvPr id="13" name="TextBox 12">
            <a:extLst>
              <a:ext uri="{FF2B5EF4-FFF2-40B4-BE49-F238E27FC236}">
                <a16:creationId xmlns:a16="http://schemas.microsoft.com/office/drawing/2014/main" id="{2AD3E1D8-4687-CD84-AB7E-22311372EFC0}"/>
              </a:ext>
            </a:extLst>
          </p:cNvPr>
          <p:cNvSpPr txBox="1"/>
          <p:nvPr/>
        </p:nvSpPr>
        <p:spPr>
          <a:xfrm>
            <a:off x="1876798" y="5395413"/>
            <a:ext cx="552893" cy="584775"/>
          </a:xfrm>
          <a:prstGeom prst="rect">
            <a:avLst/>
          </a:prstGeom>
          <a:noFill/>
        </p:spPr>
        <p:txBody>
          <a:bodyPr wrap="square" rtlCol="0">
            <a:spAutoFit/>
          </a:bodyPr>
          <a:lstStyle/>
          <a:p>
            <a:r>
              <a:rPr lang="en-US" sz="3200" dirty="0"/>
              <a:t>→</a:t>
            </a:r>
          </a:p>
        </p:txBody>
      </p:sp>
      <p:sp>
        <p:nvSpPr>
          <p:cNvPr id="15" name="TextBox 14">
            <a:extLst>
              <a:ext uri="{FF2B5EF4-FFF2-40B4-BE49-F238E27FC236}">
                <a16:creationId xmlns:a16="http://schemas.microsoft.com/office/drawing/2014/main" id="{38065CB5-91F9-5A0F-B06A-2898CE717D4D}"/>
              </a:ext>
            </a:extLst>
          </p:cNvPr>
          <p:cNvSpPr txBox="1"/>
          <p:nvPr/>
        </p:nvSpPr>
        <p:spPr>
          <a:xfrm>
            <a:off x="2269778" y="3656526"/>
            <a:ext cx="2420874" cy="1323439"/>
          </a:xfrm>
          <a:prstGeom prst="rect">
            <a:avLst/>
          </a:prstGeom>
          <a:noFill/>
        </p:spPr>
        <p:txBody>
          <a:bodyPr wrap="square" rtlCol="0">
            <a:spAutoFit/>
          </a:bodyPr>
          <a:lstStyle>
            <a:defPPr marR="0" lvl="0" algn="l" rtl="0">
              <a:lnSpc>
                <a:spcPct val="100000"/>
              </a:lnSpc>
              <a:spcBef>
                <a:spcPts val="0"/>
              </a:spcBef>
              <a:spcAft>
                <a:spcPts val="0"/>
              </a:spcAft>
            </a:defPPr>
            <a:lvl1pPr>
              <a:defRPr sz="2000"/>
            </a:lvl1pPr>
          </a:lstStyle>
          <a:p>
            <a:r>
              <a:rPr lang="en-US" dirty="0"/>
              <a:t>With dark neon theme for readability and brand consistency</a:t>
            </a:r>
          </a:p>
        </p:txBody>
      </p:sp>
      <p:sp>
        <p:nvSpPr>
          <p:cNvPr id="17" name="TextBox 16">
            <a:extLst>
              <a:ext uri="{FF2B5EF4-FFF2-40B4-BE49-F238E27FC236}">
                <a16:creationId xmlns:a16="http://schemas.microsoft.com/office/drawing/2014/main" id="{8D0A46AB-F70D-BEEA-1BFA-1D10F0019596}"/>
              </a:ext>
            </a:extLst>
          </p:cNvPr>
          <p:cNvSpPr txBox="1"/>
          <p:nvPr/>
        </p:nvSpPr>
        <p:spPr>
          <a:xfrm rot="5400000">
            <a:off x="2992374" y="3154282"/>
            <a:ext cx="390906" cy="584775"/>
          </a:xfrm>
          <a:prstGeom prst="rect">
            <a:avLst/>
          </a:prstGeom>
          <a:noFill/>
        </p:spPr>
        <p:txBody>
          <a:bodyPr wrap="square">
            <a:spAutoFit/>
          </a:bodyPr>
          <a:lstStyle/>
          <a:p>
            <a:r>
              <a:rPr lang="en-US" sz="3200" dirty="0"/>
              <a:t>→</a:t>
            </a:r>
          </a:p>
        </p:txBody>
      </p:sp>
      <p:pic>
        <p:nvPicPr>
          <p:cNvPr id="19" name="Google Shape;195;p9">
            <a:extLst>
              <a:ext uri="{FF2B5EF4-FFF2-40B4-BE49-F238E27FC236}">
                <a16:creationId xmlns:a16="http://schemas.microsoft.com/office/drawing/2014/main" id="{BED93357-E649-E8B1-C87B-A7149FDA7D63}"/>
              </a:ext>
            </a:extLst>
          </p:cNvPr>
          <p:cNvPicPr preferRelativeResize="0"/>
          <p:nvPr/>
        </p:nvPicPr>
        <p:blipFill rotWithShape="1">
          <a:blip r:embed="rId3">
            <a:alphaModFix/>
          </a:blip>
          <a:srcRect/>
          <a:stretch/>
        </p:blipFill>
        <p:spPr>
          <a:xfrm>
            <a:off x="5281264" y="2756766"/>
            <a:ext cx="6434009" cy="918225"/>
          </a:xfrm>
          <a:prstGeom prst="snip2DiagRect">
            <a:avLst>
              <a:gd name="adj1" fmla="val 0"/>
              <a:gd name="adj2" fmla="val 16667"/>
            </a:avLst>
          </a:prstGeom>
          <a:solidFill>
            <a:srgbClr val="ECECEC"/>
          </a:solidFill>
          <a:ln w="88900" cap="sq" cmpd="sng">
            <a:solidFill>
              <a:srgbClr val="336EA8"/>
            </a:solidFill>
            <a:prstDash val="solid"/>
            <a:miter lim="800000"/>
            <a:headEnd type="none" w="sm" len="sm"/>
            <a:tailEnd type="none" w="sm" len="sm"/>
          </a:ln>
          <a:effectLst>
            <a:outerShdw blurRad="88900" algn="tl" rotWithShape="0">
              <a:srgbClr val="000000">
                <a:alpha val="44705"/>
              </a:srgbClr>
            </a:outerShdw>
          </a:effectLst>
        </p:spPr>
      </p:pic>
      <p:pic>
        <p:nvPicPr>
          <p:cNvPr id="21" name="Picture 20">
            <a:extLst>
              <a:ext uri="{FF2B5EF4-FFF2-40B4-BE49-F238E27FC236}">
                <a16:creationId xmlns:a16="http://schemas.microsoft.com/office/drawing/2014/main" id="{3BFE5525-91AC-93AE-2225-1BBB5107DF7D}"/>
              </a:ext>
            </a:extLst>
          </p:cNvPr>
          <p:cNvPicPr>
            <a:picLocks noChangeAspect="1"/>
          </p:cNvPicPr>
          <p:nvPr/>
        </p:nvPicPr>
        <p:blipFill rotWithShape="1">
          <a:blip r:embed="rId7"/>
          <a:srcRect l="17100" t="15088" r="23500" b="69657"/>
          <a:stretch/>
        </p:blipFill>
        <p:spPr>
          <a:xfrm>
            <a:off x="5281264" y="2756766"/>
            <a:ext cx="6434009" cy="918225"/>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3" name="TextBox 22">
            <a:extLst>
              <a:ext uri="{FF2B5EF4-FFF2-40B4-BE49-F238E27FC236}">
                <a16:creationId xmlns:a16="http://schemas.microsoft.com/office/drawing/2014/main" id="{CA7A3D26-F8B2-0327-C17F-65BB178E6D05}"/>
              </a:ext>
            </a:extLst>
          </p:cNvPr>
          <p:cNvSpPr txBox="1"/>
          <p:nvPr/>
        </p:nvSpPr>
        <p:spPr>
          <a:xfrm rot="5400000">
            <a:off x="8107221" y="3828426"/>
            <a:ext cx="629253" cy="584775"/>
          </a:xfrm>
          <a:prstGeom prst="rect">
            <a:avLst/>
          </a:prstGeom>
          <a:noFill/>
        </p:spPr>
        <p:txBody>
          <a:bodyPr wrap="square">
            <a:spAutoFit/>
          </a:bodyPr>
          <a:lstStyle/>
          <a:p>
            <a:r>
              <a:rPr lang="en-US" sz="3200" dirty="0"/>
              <a:t>→</a:t>
            </a:r>
          </a:p>
        </p:txBody>
      </p:sp>
      <p:sp>
        <p:nvSpPr>
          <p:cNvPr id="25" name="TextBox 24">
            <a:extLst>
              <a:ext uri="{FF2B5EF4-FFF2-40B4-BE49-F238E27FC236}">
                <a16:creationId xmlns:a16="http://schemas.microsoft.com/office/drawing/2014/main" id="{7F3F4794-55F1-B30C-D320-C4CF6E1B8402}"/>
              </a:ext>
            </a:extLst>
          </p:cNvPr>
          <p:cNvSpPr txBox="1"/>
          <p:nvPr/>
        </p:nvSpPr>
        <p:spPr>
          <a:xfrm>
            <a:off x="5663477" y="4333634"/>
            <a:ext cx="7578559" cy="646331"/>
          </a:xfrm>
          <a:prstGeom prst="rect">
            <a:avLst/>
          </a:prstGeom>
          <a:noFill/>
        </p:spPr>
        <p:txBody>
          <a:bodyPr wrap="square">
            <a:spAutoFit/>
          </a:bodyPr>
          <a:lstStyle/>
          <a:p>
            <a:pPr>
              <a:lnSpc>
                <a:spcPct val="90000"/>
              </a:lnSpc>
              <a:buClr>
                <a:schemeClr val="dk1"/>
              </a:buClr>
              <a:buSzPts val="4400"/>
            </a:pPr>
            <a:r>
              <a:rPr lang="en-US" sz="2000" dirty="0">
                <a:solidFill>
                  <a:schemeClr val="dk1"/>
                </a:solidFill>
                <a:latin typeface="Calibri"/>
                <a:ea typeface="Calibri"/>
                <a:cs typeface="Calibri"/>
                <a:sym typeface="Calibri"/>
              </a:rPr>
              <a:t>There is many important KPIs as:</a:t>
            </a:r>
          </a:p>
          <a:p>
            <a:pPr>
              <a:lnSpc>
                <a:spcPct val="90000"/>
              </a:lnSpc>
              <a:buClr>
                <a:schemeClr val="dk1"/>
              </a:buClr>
              <a:buSzPts val="4400"/>
            </a:pPr>
            <a:r>
              <a:rPr lang="en-US" sz="2000" dirty="0">
                <a:solidFill>
                  <a:schemeClr val="dk1"/>
                </a:solidFill>
                <a:latin typeface="Calibri"/>
                <a:ea typeface="Calibri"/>
                <a:cs typeface="Calibri"/>
                <a:sym typeface="Calibri"/>
              </a:rPr>
              <a:t>Total Orders, Total Revenue, Total Returns and Total Profit.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8"/>
          <p:cNvSpPr txBox="1">
            <a:spLocks noGrp="1"/>
          </p:cNvSpPr>
          <p:nvPr>
            <p:ph type="title"/>
          </p:nvPr>
        </p:nvSpPr>
        <p:spPr>
          <a:xfrm>
            <a:off x="5068823" y="1651898"/>
            <a:ext cx="3974593" cy="57181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2000" b="1" dirty="0"/>
              <a:t>End Users</a:t>
            </a:r>
            <a:r>
              <a:rPr lang="en-US" sz="2000" dirty="0"/>
              <a:t>: Hyper Tech Store Owner</a:t>
            </a:r>
            <a:endParaRPr sz="2000" dirty="0"/>
          </a:p>
        </p:txBody>
      </p:sp>
      <p:sp>
        <p:nvSpPr>
          <p:cNvPr id="181" name="Google Shape;18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11/30/25</a:t>
            </a:r>
          </a:p>
        </p:txBody>
      </p:sp>
      <p:sp>
        <p:nvSpPr>
          <p:cNvPr id="182" name="Google Shape;182;p8"/>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4</a:t>
            </a:r>
            <a:endParaRPr dirty="0"/>
          </a:p>
        </p:txBody>
      </p:sp>
      <p:sp>
        <p:nvSpPr>
          <p:cNvPr id="183" name="Google Shape;18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pic>
        <p:nvPicPr>
          <p:cNvPr id="184" name="Google Shape;184;p8"/>
          <p:cNvPicPr preferRelativeResize="0"/>
          <p:nvPr/>
        </p:nvPicPr>
        <p:blipFill rotWithShape="1">
          <a:blip r:embed="rId3">
            <a:alphaModFix/>
          </a:blip>
          <a:srcRect/>
          <a:stretch/>
        </p:blipFill>
        <p:spPr>
          <a:xfrm>
            <a:off x="539106" y="1658053"/>
            <a:ext cx="3868302" cy="217503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85" name="Google Shape;185;p8"/>
          <p:cNvSpPr/>
          <p:nvPr/>
        </p:nvSpPr>
        <p:spPr>
          <a:xfrm rot="5400000">
            <a:off x="-965997" y="4069881"/>
            <a:ext cx="1942680" cy="1469097"/>
          </a:xfrm>
          <a:prstGeom prst="blockArc">
            <a:avLst>
              <a:gd name="adj1" fmla="val 10800000"/>
              <a:gd name="adj2" fmla="val 0"/>
              <a:gd name="adj3" fmla="val 25000"/>
            </a:avLst>
          </a:prstGeom>
          <a:solidFill>
            <a:srgbClr val="94B9D6"/>
          </a:solidFill>
          <a:ln w="12700" cap="flat" cmpd="sng">
            <a:solidFill>
              <a:srgbClr val="94B9D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2" name="Google Shape;110;p1">
            <a:extLst>
              <a:ext uri="{FF2B5EF4-FFF2-40B4-BE49-F238E27FC236}">
                <a16:creationId xmlns:a16="http://schemas.microsoft.com/office/drawing/2014/main" id="{B91F1AEC-48E9-F4E8-B40E-4B2E0BCA40B2}"/>
              </a:ext>
            </a:extLst>
          </p:cNvPr>
          <p:cNvPicPr preferRelativeResize="0"/>
          <p:nvPr/>
        </p:nvPicPr>
        <p:blipFill>
          <a:blip r:embed="rId4"/>
          <a:srcRect/>
          <a:stretch/>
        </p:blipFill>
        <p:spPr>
          <a:xfrm>
            <a:off x="9010943" y="6291124"/>
            <a:ext cx="1362250" cy="365125"/>
          </a:xfrm>
          <a:prstGeom prst="rect">
            <a:avLst/>
          </a:prstGeom>
          <a:noFill/>
          <a:ln>
            <a:noFill/>
          </a:ln>
        </p:spPr>
      </p:pic>
      <p:pic>
        <p:nvPicPr>
          <p:cNvPr id="4" name="Picture 3">
            <a:extLst>
              <a:ext uri="{FF2B5EF4-FFF2-40B4-BE49-F238E27FC236}">
                <a16:creationId xmlns:a16="http://schemas.microsoft.com/office/drawing/2014/main" id="{73D15737-D0B9-CC56-163E-EDB146F6D0CF}"/>
              </a:ext>
            </a:extLst>
          </p:cNvPr>
          <p:cNvPicPr>
            <a:picLocks noChangeAspect="1"/>
          </p:cNvPicPr>
          <p:nvPr/>
        </p:nvPicPr>
        <p:blipFill rotWithShape="1">
          <a:blip r:embed="rId5"/>
          <a:srcRect l="2088" t="14519" r="31875" b="19510"/>
          <a:stretch/>
        </p:blipFill>
        <p:spPr>
          <a:xfrm>
            <a:off x="566538" y="1658053"/>
            <a:ext cx="3820242" cy="2145852"/>
          </a:xfrm>
          <a:prstGeom prst="rect">
            <a:avLst/>
          </a:prstGeom>
        </p:spPr>
      </p:pic>
      <p:sp>
        <p:nvSpPr>
          <p:cNvPr id="5" name="Google Shape;180;p8">
            <a:extLst>
              <a:ext uri="{FF2B5EF4-FFF2-40B4-BE49-F238E27FC236}">
                <a16:creationId xmlns:a16="http://schemas.microsoft.com/office/drawing/2014/main" id="{B8FA1E46-1C93-EEF1-6B62-41A80DEE3BA6}"/>
              </a:ext>
            </a:extLst>
          </p:cNvPr>
          <p:cNvSpPr txBox="1">
            <a:spLocks/>
          </p:cNvSpPr>
          <p:nvPr/>
        </p:nvSpPr>
        <p:spPr>
          <a:xfrm>
            <a:off x="5068823" y="2370731"/>
            <a:ext cx="4913377" cy="239177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4400"/>
            </a:pPr>
            <a:r>
              <a:rPr lang="en-US" sz="2000" b="1" dirty="0"/>
              <a:t>Main Features:</a:t>
            </a:r>
          </a:p>
          <a:p>
            <a:pPr>
              <a:buSzPts val="4400"/>
            </a:pPr>
            <a:r>
              <a:rPr lang="en-US" sz="2000" dirty="0"/>
              <a:t>- KPI Insights</a:t>
            </a:r>
          </a:p>
          <a:p>
            <a:pPr>
              <a:buSzPts val="4400"/>
            </a:pPr>
            <a:r>
              <a:rPr lang="en-US" sz="2000" dirty="0"/>
              <a:t>- Customers Analysis</a:t>
            </a:r>
          </a:p>
          <a:p>
            <a:pPr>
              <a:buSzPts val="4400"/>
            </a:pPr>
            <a:r>
              <a:rPr lang="en-US" sz="2000" dirty="0"/>
              <a:t>- Product Performance</a:t>
            </a:r>
          </a:p>
          <a:p>
            <a:pPr>
              <a:buSzPts val="4400"/>
            </a:pPr>
            <a:r>
              <a:rPr lang="en-US" sz="2000" dirty="0"/>
              <a:t>- Brand Performance</a:t>
            </a:r>
          </a:p>
          <a:p>
            <a:pPr>
              <a:buSzPts val="4400"/>
            </a:pPr>
            <a:r>
              <a:rPr lang="en-US" sz="2000" dirty="0"/>
              <a:t>- Geographical Map</a:t>
            </a:r>
          </a:p>
          <a:p>
            <a:pPr>
              <a:buSzPts val="4400"/>
            </a:pPr>
            <a:r>
              <a:rPr lang="en-US" sz="2000" dirty="0"/>
              <a:t>- Filter Popup</a:t>
            </a:r>
          </a:p>
          <a:p>
            <a:pPr>
              <a:buSzPts val="4400"/>
            </a:pPr>
            <a:r>
              <a:rPr lang="en-US" sz="2000" dirty="0"/>
              <a:t>- Multi-Page Navigation</a:t>
            </a:r>
          </a:p>
          <a:p>
            <a:pPr>
              <a:buSzPts val="4400"/>
            </a:pPr>
            <a:endParaRPr lang="en-US" sz="2000" b="1" dirty="0"/>
          </a:p>
        </p:txBody>
      </p:sp>
      <p:sp>
        <p:nvSpPr>
          <p:cNvPr id="6" name="Google Shape;180;p8">
            <a:extLst>
              <a:ext uri="{FF2B5EF4-FFF2-40B4-BE49-F238E27FC236}">
                <a16:creationId xmlns:a16="http://schemas.microsoft.com/office/drawing/2014/main" id="{5577B783-152B-2DBB-7982-613630107C1A}"/>
              </a:ext>
            </a:extLst>
          </p:cNvPr>
          <p:cNvSpPr txBox="1">
            <a:spLocks/>
          </p:cNvSpPr>
          <p:nvPr/>
        </p:nvSpPr>
        <p:spPr>
          <a:xfrm>
            <a:off x="1030223" y="4592335"/>
            <a:ext cx="5102353" cy="902219"/>
          </a:xfrm>
          <a:prstGeom prst="rect">
            <a:avLst/>
          </a:prstGeom>
          <a:noFill/>
          <a:ln>
            <a:noFill/>
          </a:ln>
        </p:spPr>
        <p:txBody>
          <a:bodyPr spcFirstLastPara="1" wrap="square" lIns="91425" tIns="45700" rIns="91425" bIns="45700" anchor="ctr" anchorCtr="0">
            <a:normAutofit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4400"/>
            </a:pPr>
            <a:r>
              <a:rPr lang="en-US" sz="2000" b="1" dirty="0"/>
              <a:t>How Features Solve Problems:</a:t>
            </a:r>
          </a:p>
          <a:p>
            <a:pPr>
              <a:buSzPts val="4400"/>
            </a:pPr>
            <a:r>
              <a:rPr lang="en-US" sz="2000" dirty="0"/>
              <a:t>Identify weak products, high returns, customer behavior, regional trends</a:t>
            </a:r>
            <a:endParaRPr lang="en-US" sz="2000" b="1" dirty="0"/>
          </a:p>
        </p:txBody>
      </p:sp>
      <p:sp>
        <p:nvSpPr>
          <p:cNvPr id="11" name="TextBox 10">
            <a:extLst>
              <a:ext uri="{FF2B5EF4-FFF2-40B4-BE49-F238E27FC236}">
                <a16:creationId xmlns:a16="http://schemas.microsoft.com/office/drawing/2014/main" id="{505B2384-3D82-7415-8A1F-35A77AE78B2D}"/>
              </a:ext>
            </a:extLst>
          </p:cNvPr>
          <p:cNvSpPr txBox="1"/>
          <p:nvPr/>
        </p:nvSpPr>
        <p:spPr>
          <a:xfrm>
            <a:off x="4446324" y="2146204"/>
            <a:ext cx="381762" cy="584775"/>
          </a:xfrm>
          <a:prstGeom prst="rect">
            <a:avLst/>
          </a:prstGeom>
          <a:noFill/>
        </p:spPr>
        <p:txBody>
          <a:bodyPr wrap="square">
            <a:spAutoFit/>
          </a:bodyPr>
          <a:lstStyle/>
          <a:p>
            <a:r>
              <a:rPr lang="en-US" sz="3200" dirty="0"/>
              <a:t>→</a:t>
            </a:r>
          </a:p>
        </p:txBody>
      </p:sp>
      <p:sp>
        <p:nvSpPr>
          <p:cNvPr id="13" name="TextBox 12">
            <a:extLst>
              <a:ext uri="{FF2B5EF4-FFF2-40B4-BE49-F238E27FC236}">
                <a16:creationId xmlns:a16="http://schemas.microsoft.com/office/drawing/2014/main" id="{F09D66C6-403F-F843-E878-18048CAB3F21}"/>
              </a:ext>
            </a:extLst>
          </p:cNvPr>
          <p:cNvSpPr txBox="1"/>
          <p:nvPr/>
        </p:nvSpPr>
        <p:spPr>
          <a:xfrm rot="5400000">
            <a:off x="2291774" y="3869050"/>
            <a:ext cx="345948" cy="584775"/>
          </a:xfrm>
          <a:prstGeom prst="rect">
            <a:avLst/>
          </a:prstGeom>
          <a:noFill/>
        </p:spPr>
        <p:txBody>
          <a:bodyPr wrap="square">
            <a:spAutoFit/>
          </a:bodyPr>
          <a:lstStyle/>
          <a:p>
            <a:r>
              <a:rPr lang="en-US" sz="3200" dirty="0"/>
              <a:t>→</a:t>
            </a:r>
          </a:p>
        </p:txBody>
      </p:sp>
      <p:sp>
        <p:nvSpPr>
          <p:cNvPr id="15" name="TextBox 14">
            <a:extLst>
              <a:ext uri="{FF2B5EF4-FFF2-40B4-BE49-F238E27FC236}">
                <a16:creationId xmlns:a16="http://schemas.microsoft.com/office/drawing/2014/main" id="{AC990E82-C037-A708-27D8-A3ED970B7BFD}"/>
              </a:ext>
            </a:extLst>
          </p:cNvPr>
          <p:cNvSpPr txBox="1"/>
          <p:nvPr/>
        </p:nvSpPr>
        <p:spPr>
          <a:xfrm>
            <a:off x="4425696" y="1612826"/>
            <a:ext cx="363474" cy="584775"/>
          </a:xfrm>
          <a:prstGeom prst="rect">
            <a:avLst/>
          </a:prstGeom>
          <a:noFill/>
        </p:spPr>
        <p:txBody>
          <a:bodyPr wrap="square">
            <a:spAutoFit/>
          </a:bodyPr>
          <a:lstStyle/>
          <a:p>
            <a:r>
              <a:rPr lang="en-US" sz="3200"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pic>
        <p:nvPicPr>
          <p:cNvPr id="16" name="Google Shape;195;p9">
            <a:extLst>
              <a:ext uri="{FF2B5EF4-FFF2-40B4-BE49-F238E27FC236}">
                <a16:creationId xmlns:a16="http://schemas.microsoft.com/office/drawing/2014/main" id="{3A51D9F6-A33D-BB93-D915-0CDEA72F182F}"/>
              </a:ext>
            </a:extLst>
          </p:cNvPr>
          <p:cNvPicPr preferRelativeResize="0"/>
          <p:nvPr/>
        </p:nvPicPr>
        <p:blipFill rotWithShape="1">
          <a:blip r:embed="rId3">
            <a:alphaModFix/>
          </a:blip>
          <a:srcRect/>
          <a:stretch/>
        </p:blipFill>
        <p:spPr>
          <a:xfrm>
            <a:off x="4199822" y="1773455"/>
            <a:ext cx="3562626" cy="2749837"/>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13" name="Google Shape;195;p9">
            <a:extLst>
              <a:ext uri="{FF2B5EF4-FFF2-40B4-BE49-F238E27FC236}">
                <a16:creationId xmlns:a16="http://schemas.microsoft.com/office/drawing/2014/main" id="{2A876C75-CE0F-4CEA-B42B-001DA56CE3D1}"/>
              </a:ext>
            </a:extLst>
          </p:cNvPr>
          <p:cNvPicPr preferRelativeResize="0"/>
          <p:nvPr/>
        </p:nvPicPr>
        <p:blipFill rotWithShape="1">
          <a:blip r:embed="rId3">
            <a:alphaModFix/>
          </a:blip>
          <a:srcRect/>
          <a:stretch/>
        </p:blipFill>
        <p:spPr>
          <a:xfrm>
            <a:off x="396831" y="2355401"/>
            <a:ext cx="3339926" cy="1827935"/>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202" name="Google Shape;202;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a:t>11/30/25</a:t>
            </a:r>
            <a:endParaRPr lang="en-US" dirty="0"/>
          </a:p>
        </p:txBody>
      </p:sp>
      <p:sp>
        <p:nvSpPr>
          <p:cNvPr id="203" name="Google Shape;203;p10"/>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5</a:t>
            </a:r>
            <a:endParaRPr lang="en-US" dirty="0"/>
          </a:p>
        </p:txBody>
      </p:sp>
      <p:sp>
        <p:nvSpPr>
          <p:cNvPr id="204" name="Google Shape;204;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10</a:t>
            </a:fld>
            <a:endParaRPr lang="en-US"/>
          </a:p>
        </p:txBody>
      </p:sp>
      <p:sp>
        <p:nvSpPr>
          <p:cNvPr id="205" name="Google Shape;205;p10"/>
          <p:cNvSpPr/>
          <p:nvPr/>
        </p:nvSpPr>
        <p:spPr>
          <a:xfrm>
            <a:off x="669524" y="5250757"/>
            <a:ext cx="10852952" cy="827092"/>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6" name="Google Shape;206;p10"/>
          <p:cNvSpPr/>
          <p:nvPr/>
        </p:nvSpPr>
        <p:spPr>
          <a:xfrm>
            <a:off x="8153398" y="3998978"/>
            <a:ext cx="3375174" cy="827092"/>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7" name="Google Shape;207;p10"/>
          <p:cNvSpPr/>
          <p:nvPr/>
        </p:nvSpPr>
        <p:spPr>
          <a:xfrm>
            <a:off x="8153400" y="1633619"/>
            <a:ext cx="3369076" cy="827092"/>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8" name="Google Shape;208;p10"/>
          <p:cNvSpPr txBox="1">
            <a:spLocks noGrp="1"/>
          </p:cNvSpPr>
          <p:nvPr>
            <p:ph type="title"/>
          </p:nvPr>
        </p:nvSpPr>
        <p:spPr>
          <a:xfrm>
            <a:off x="8055864" y="1615386"/>
            <a:ext cx="3466612" cy="827092"/>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1800"/>
              <a:buFont typeface="Calibri"/>
              <a:buNone/>
            </a:pPr>
            <a:r>
              <a:rPr lang="en-US" sz="1600" dirty="0">
                <a:solidFill>
                  <a:schemeClr val="lt1"/>
                </a:solidFill>
              </a:rPr>
              <a:t>Data Warehouse uses a Star Schema</a:t>
            </a:r>
          </a:p>
        </p:txBody>
      </p:sp>
      <p:pic>
        <p:nvPicPr>
          <p:cNvPr id="2" name="Google Shape;110;p1">
            <a:extLst>
              <a:ext uri="{FF2B5EF4-FFF2-40B4-BE49-F238E27FC236}">
                <a16:creationId xmlns:a16="http://schemas.microsoft.com/office/drawing/2014/main" id="{E559F335-69B1-7484-EFC6-3ED9C8D58DA7}"/>
              </a:ext>
            </a:extLst>
          </p:cNvPr>
          <p:cNvPicPr preferRelativeResize="0"/>
          <p:nvPr/>
        </p:nvPicPr>
        <p:blipFill>
          <a:blip r:embed="rId4"/>
          <a:srcRect/>
          <a:stretch/>
        </p:blipFill>
        <p:spPr>
          <a:xfrm>
            <a:off x="9010943" y="6291124"/>
            <a:ext cx="1362250" cy="365125"/>
          </a:xfrm>
          <a:prstGeom prst="rect">
            <a:avLst/>
          </a:prstGeom>
          <a:noFill/>
          <a:ln>
            <a:noFill/>
          </a:ln>
        </p:spPr>
      </p:pic>
      <p:sp>
        <p:nvSpPr>
          <p:cNvPr id="3" name="Google Shape;206;p10">
            <a:extLst>
              <a:ext uri="{FF2B5EF4-FFF2-40B4-BE49-F238E27FC236}">
                <a16:creationId xmlns:a16="http://schemas.microsoft.com/office/drawing/2014/main" id="{95267034-36E2-617B-9D4D-0CE6E6164937}"/>
              </a:ext>
            </a:extLst>
          </p:cNvPr>
          <p:cNvSpPr/>
          <p:nvPr/>
        </p:nvSpPr>
        <p:spPr>
          <a:xfrm>
            <a:off x="8153399" y="2815163"/>
            <a:ext cx="3369076" cy="827092"/>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spcFirstLastPara="1" wrap="square" lIns="91425" tIns="45700" rIns="91425" bIns="45700" anchor="t" anchorCtr="0">
            <a:noAutofit/>
          </a:bodyPr>
          <a:lstStyle/>
          <a:p>
            <a:endParaRPr sz="1800">
              <a:solidFill>
                <a:schemeClr val="dk1"/>
              </a:solidFill>
              <a:latin typeface="Calibri"/>
              <a:ea typeface="Calibri"/>
              <a:cs typeface="Calibri"/>
              <a:sym typeface="Calibri"/>
            </a:endParaRPr>
          </a:p>
        </p:txBody>
      </p:sp>
      <p:sp>
        <p:nvSpPr>
          <p:cNvPr id="4" name="TextBox 3">
            <a:extLst>
              <a:ext uri="{FF2B5EF4-FFF2-40B4-BE49-F238E27FC236}">
                <a16:creationId xmlns:a16="http://schemas.microsoft.com/office/drawing/2014/main" id="{7601107F-6896-D0FB-0996-3F3B9C2FB744}"/>
              </a:ext>
            </a:extLst>
          </p:cNvPr>
          <p:cNvSpPr txBox="1"/>
          <p:nvPr/>
        </p:nvSpPr>
        <p:spPr>
          <a:xfrm>
            <a:off x="8153400" y="3057893"/>
            <a:ext cx="3369076" cy="313932"/>
          </a:xfrm>
          <a:prstGeom prst="rect">
            <a:avLst/>
          </a:prstGeom>
          <a:noFill/>
        </p:spPr>
        <p:txBody>
          <a:bodyPr wrap="square" rtlCol="0">
            <a:spAutoFit/>
          </a:bodyPr>
          <a:lstStyle/>
          <a:p>
            <a:pPr algn="ctr">
              <a:lnSpc>
                <a:spcPct val="90000"/>
              </a:lnSpc>
              <a:buClr>
                <a:schemeClr val="dk1"/>
              </a:buClr>
              <a:buSzPts val="1800"/>
            </a:pPr>
            <a:r>
              <a:rPr lang="en-US" sz="1600" dirty="0">
                <a:solidFill>
                  <a:schemeClr val="lt1"/>
                </a:solidFill>
                <a:latin typeface="Calibri"/>
                <a:ea typeface="Calibri"/>
                <a:cs typeface="Calibri"/>
                <a:sym typeface="Calibri"/>
              </a:rPr>
              <a:t>Fact Table: </a:t>
            </a:r>
            <a:r>
              <a:rPr lang="en-US" sz="1600" dirty="0" err="1">
                <a:solidFill>
                  <a:schemeClr val="lt1"/>
                </a:solidFill>
                <a:latin typeface="Calibri"/>
                <a:ea typeface="Calibri"/>
                <a:cs typeface="Calibri"/>
                <a:sym typeface="Calibri"/>
              </a:rPr>
              <a:t>FacrOrderDetails</a:t>
            </a:r>
            <a:endParaRPr lang="en-US" sz="1600" dirty="0">
              <a:solidFill>
                <a:schemeClr val="lt1"/>
              </a:solidFill>
              <a:latin typeface="Calibri"/>
              <a:ea typeface="Calibri"/>
              <a:cs typeface="Calibri"/>
              <a:sym typeface="Calibri"/>
            </a:endParaRPr>
          </a:p>
        </p:txBody>
      </p:sp>
      <p:sp>
        <p:nvSpPr>
          <p:cNvPr id="5" name="TextBox 4">
            <a:extLst>
              <a:ext uri="{FF2B5EF4-FFF2-40B4-BE49-F238E27FC236}">
                <a16:creationId xmlns:a16="http://schemas.microsoft.com/office/drawing/2014/main" id="{CF9F47C6-276B-D69B-923B-EA4B2559B27D}"/>
              </a:ext>
            </a:extLst>
          </p:cNvPr>
          <p:cNvSpPr txBox="1"/>
          <p:nvPr/>
        </p:nvSpPr>
        <p:spPr>
          <a:xfrm>
            <a:off x="8188969" y="4172458"/>
            <a:ext cx="3200401" cy="480131"/>
          </a:xfrm>
          <a:prstGeom prst="rect">
            <a:avLst/>
          </a:prstGeom>
          <a:noFill/>
        </p:spPr>
        <p:txBody>
          <a:bodyPr wrap="square" rtlCol="0">
            <a:spAutoFit/>
          </a:bodyPr>
          <a:lstStyle/>
          <a:p>
            <a:pPr algn="ctr">
              <a:lnSpc>
                <a:spcPct val="90000"/>
              </a:lnSpc>
              <a:buClr>
                <a:schemeClr val="dk1"/>
              </a:buClr>
              <a:buSzPts val="1800"/>
            </a:pPr>
            <a:r>
              <a:rPr lang="en-US" dirty="0">
                <a:solidFill>
                  <a:schemeClr val="lt1"/>
                </a:solidFill>
                <a:latin typeface="Calibri"/>
                <a:ea typeface="Calibri"/>
                <a:cs typeface="Calibri"/>
              </a:rPr>
              <a:t>Dimensions: Customers, Products, Categories, Territory, Calendar, Returns</a:t>
            </a:r>
            <a:endParaRPr lang="en-US" dirty="0">
              <a:solidFill>
                <a:schemeClr val="lt1"/>
              </a:solidFill>
              <a:latin typeface="Calibri"/>
              <a:ea typeface="Calibri"/>
              <a:cs typeface="Calibri"/>
              <a:sym typeface="Calibri"/>
            </a:endParaRPr>
          </a:p>
        </p:txBody>
      </p:sp>
      <p:sp>
        <p:nvSpPr>
          <p:cNvPr id="8" name="TextBox 7">
            <a:extLst>
              <a:ext uri="{FF2B5EF4-FFF2-40B4-BE49-F238E27FC236}">
                <a16:creationId xmlns:a16="http://schemas.microsoft.com/office/drawing/2014/main" id="{1F82C7E8-C039-28CB-43A0-09D76EE4BB53}"/>
              </a:ext>
            </a:extLst>
          </p:cNvPr>
          <p:cNvSpPr txBox="1"/>
          <p:nvPr/>
        </p:nvSpPr>
        <p:spPr>
          <a:xfrm>
            <a:off x="838200" y="5493487"/>
            <a:ext cx="10684276" cy="369332"/>
          </a:xfrm>
          <a:prstGeom prst="rect">
            <a:avLst/>
          </a:prstGeom>
          <a:noFill/>
        </p:spPr>
        <p:txBody>
          <a:bodyPr wrap="square" rtlCol="0">
            <a:spAutoFit/>
          </a:bodyPr>
          <a:lstStyle/>
          <a:p>
            <a:pPr algn="ctr">
              <a:lnSpc>
                <a:spcPct val="90000"/>
              </a:lnSpc>
              <a:buClr>
                <a:schemeClr val="dk1"/>
              </a:buClr>
              <a:buSzPts val="1800"/>
            </a:pPr>
            <a:r>
              <a:rPr lang="en-US" sz="1800" dirty="0">
                <a:solidFill>
                  <a:schemeClr val="lt1"/>
                </a:solidFill>
                <a:latin typeface="Calibri"/>
                <a:ea typeface="Calibri"/>
                <a:cs typeface="Calibri"/>
              </a:rPr>
              <a:t>Data Flow: CSV → Cleaning (Power Query + SQL) → </a:t>
            </a:r>
            <a:r>
              <a:rPr lang="en-US" sz="2000" dirty="0">
                <a:solidFill>
                  <a:schemeClr val="lt1"/>
                </a:solidFill>
                <a:latin typeface="Calibri"/>
                <a:ea typeface="Calibri"/>
                <a:cs typeface="Calibri"/>
              </a:rPr>
              <a:t>Modeling</a:t>
            </a:r>
            <a:r>
              <a:rPr lang="en-US" sz="1800" dirty="0">
                <a:solidFill>
                  <a:schemeClr val="lt1"/>
                </a:solidFill>
                <a:latin typeface="Calibri"/>
                <a:ea typeface="Calibri"/>
                <a:cs typeface="Calibri"/>
              </a:rPr>
              <a:t> → Dashboards</a:t>
            </a:r>
            <a:endParaRPr lang="en-US" sz="1800" dirty="0">
              <a:solidFill>
                <a:schemeClr val="lt1"/>
              </a:solidFill>
              <a:latin typeface="Calibri"/>
              <a:ea typeface="Calibri"/>
              <a:cs typeface="Calibri"/>
              <a:sym typeface="Calibri"/>
            </a:endParaRPr>
          </a:p>
        </p:txBody>
      </p:sp>
      <p:pic>
        <p:nvPicPr>
          <p:cNvPr id="12" name="Picture 11">
            <a:extLst>
              <a:ext uri="{FF2B5EF4-FFF2-40B4-BE49-F238E27FC236}">
                <a16:creationId xmlns:a16="http://schemas.microsoft.com/office/drawing/2014/main" id="{326F1B31-713F-B277-CAA5-62A7C2282EC0}"/>
              </a:ext>
            </a:extLst>
          </p:cNvPr>
          <p:cNvPicPr>
            <a:picLocks noChangeAspect="1"/>
          </p:cNvPicPr>
          <p:nvPr/>
        </p:nvPicPr>
        <p:blipFill>
          <a:blip r:embed="rId5"/>
          <a:stretch>
            <a:fillRect/>
          </a:stretch>
        </p:blipFill>
        <p:spPr>
          <a:xfrm>
            <a:off x="396831" y="2325038"/>
            <a:ext cx="3339926" cy="1874239"/>
          </a:xfrm>
          <a:prstGeom prst="rect">
            <a:avLst/>
          </a:prstGeom>
        </p:spPr>
      </p:pic>
      <p:pic>
        <p:nvPicPr>
          <p:cNvPr id="15" name="Picture 14">
            <a:extLst>
              <a:ext uri="{FF2B5EF4-FFF2-40B4-BE49-F238E27FC236}">
                <a16:creationId xmlns:a16="http://schemas.microsoft.com/office/drawing/2014/main" id="{69366D22-9176-5DB8-6F2E-2E7EA6B4730A}"/>
              </a:ext>
            </a:extLst>
          </p:cNvPr>
          <p:cNvPicPr>
            <a:picLocks noChangeAspect="1"/>
          </p:cNvPicPr>
          <p:nvPr/>
        </p:nvPicPr>
        <p:blipFill rotWithShape="1">
          <a:blip r:embed="rId6"/>
          <a:srcRect t="4534" r="23654" b="11375"/>
          <a:stretch/>
        </p:blipFill>
        <p:spPr>
          <a:xfrm>
            <a:off x="4208965" y="1753202"/>
            <a:ext cx="3562626" cy="2781526"/>
          </a:xfrm>
          <a:prstGeom prst="rect">
            <a:avLst/>
          </a:prstGeom>
        </p:spPr>
      </p:pic>
      <p:sp>
        <p:nvSpPr>
          <p:cNvPr id="18" name="TextBox 17">
            <a:extLst>
              <a:ext uri="{FF2B5EF4-FFF2-40B4-BE49-F238E27FC236}">
                <a16:creationId xmlns:a16="http://schemas.microsoft.com/office/drawing/2014/main" id="{E9A7441C-1304-5726-86D0-F3535F22C590}"/>
              </a:ext>
            </a:extLst>
          </p:cNvPr>
          <p:cNvSpPr txBox="1"/>
          <p:nvPr/>
        </p:nvSpPr>
        <p:spPr>
          <a:xfrm>
            <a:off x="3694970" y="2841500"/>
            <a:ext cx="602615" cy="584775"/>
          </a:xfrm>
          <a:prstGeom prst="rect">
            <a:avLst/>
          </a:prstGeom>
          <a:noFill/>
        </p:spPr>
        <p:txBody>
          <a:bodyPr wrap="square">
            <a:spAutoFit/>
          </a:bodyPr>
          <a:lstStyle/>
          <a:p>
            <a:r>
              <a:rPr lang="en-US" sz="3200" dirty="0"/>
              <a:t>→</a:t>
            </a:r>
          </a:p>
        </p:txBody>
      </p:sp>
      <p:sp>
        <p:nvSpPr>
          <p:cNvPr id="20" name="TextBox 19">
            <a:extLst>
              <a:ext uri="{FF2B5EF4-FFF2-40B4-BE49-F238E27FC236}">
                <a16:creationId xmlns:a16="http://schemas.microsoft.com/office/drawing/2014/main" id="{3AC2E7BF-FD78-C54A-F32D-56DEF92CDB9A}"/>
              </a:ext>
            </a:extLst>
          </p:cNvPr>
          <p:cNvSpPr txBox="1"/>
          <p:nvPr/>
        </p:nvSpPr>
        <p:spPr>
          <a:xfrm>
            <a:off x="3694970" y="2140371"/>
            <a:ext cx="584775" cy="584775"/>
          </a:xfrm>
          <a:prstGeom prst="rect">
            <a:avLst/>
          </a:prstGeom>
          <a:noFill/>
        </p:spPr>
        <p:txBody>
          <a:bodyPr wrap="square">
            <a:spAutoFit/>
          </a:bodyPr>
          <a:lstStyle/>
          <a:p>
            <a:r>
              <a:rPr lang="en-US" sz="3200" dirty="0"/>
              <a:t>→</a:t>
            </a:r>
          </a:p>
        </p:txBody>
      </p:sp>
      <p:sp>
        <p:nvSpPr>
          <p:cNvPr id="22" name="TextBox 21">
            <a:extLst>
              <a:ext uri="{FF2B5EF4-FFF2-40B4-BE49-F238E27FC236}">
                <a16:creationId xmlns:a16="http://schemas.microsoft.com/office/drawing/2014/main" id="{764E9F23-EECD-7745-0F04-F2DB949BEF3D}"/>
              </a:ext>
            </a:extLst>
          </p:cNvPr>
          <p:cNvSpPr txBox="1"/>
          <p:nvPr/>
        </p:nvSpPr>
        <p:spPr>
          <a:xfrm>
            <a:off x="3694970" y="3614502"/>
            <a:ext cx="671195" cy="584775"/>
          </a:xfrm>
          <a:prstGeom prst="rect">
            <a:avLst/>
          </a:prstGeom>
          <a:noFill/>
        </p:spPr>
        <p:txBody>
          <a:bodyPr wrap="square">
            <a:spAutoFit/>
          </a:bodyPr>
          <a:lstStyle/>
          <a:p>
            <a:r>
              <a:rPr lang="en-US" sz="3200"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1"/>
          <p:cNvSpPr txBox="1">
            <a:spLocks noGrp="1"/>
          </p:cNvSpPr>
          <p:nvPr>
            <p:ph type="body" idx="1"/>
          </p:nvPr>
        </p:nvSpPr>
        <p:spPr>
          <a:xfrm>
            <a:off x="1958340" y="1293051"/>
            <a:ext cx="7859268" cy="563182"/>
          </a:xfrm>
          <a:prstGeom prst="rect">
            <a:avLst/>
          </a:prstGeom>
          <a:noFill/>
          <a:ln>
            <a:noFill/>
          </a:ln>
        </p:spPr>
        <p:txBody>
          <a:bodyPr spcFirstLastPara="1" wrap="square" lIns="91425" tIns="45700" rIns="91425" bIns="45700" anchor="t" anchorCtr="0">
            <a:noAutofit/>
          </a:bodyPr>
          <a:lstStyle/>
          <a:p>
            <a:pPr marL="228600" lvl="0" indent="-50800" algn="ctr" rtl="0">
              <a:lnSpc>
                <a:spcPct val="90000"/>
              </a:lnSpc>
              <a:spcBef>
                <a:spcPts val="0"/>
              </a:spcBef>
              <a:spcAft>
                <a:spcPts val="0"/>
              </a:spcAft>
              <a:buClr>
                <a:schemeClr val="dk1"/>
              </a:buClr>
              <a:buSzPts val="2800"/>
              <a:buNone/>
            </a:pPr>
            <a:r>
              <a:rPr lang="en-US" sz="4000" dirty="0"/>
              <a:t>Programming Languages &amp; Tools</a:t>
            </a:r>
            <a:endParaRPr sz="4000" dirty="0"/>
          </a:p>
        </p:txBody>
      </p:sp>
      <p:sp>
        <p:nvSpPr>
          <p:cNvPr id="215" name="Google Shape;21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11/30/25</a:t>
            </a:r>
          </a:p>
        </p:txBody>
      </p:sp>
      <p:sp>
        <p:nvSpPr>
          <p:cNvPr id="216" name="Google Shape;216;p11"/>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6</a:t>
            </a:r>
            <a:endParaRPr dirty="0"/>
          </a:p>
        </p:txBody>
      </p:sp>
      <p:sp>
        <p:nvSpPr>
          <p:cNvPr id="217" name="Google Shape;21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pic>
        <p:nvPicPr>
          <p:cNvPr id="2" name="Google Shape;110;p1">
            <a:extLst>
              <a:ext uri="{FF2B5EF4-FFF2-40B4-BE49-F238E27FC236}">
                <a16:creationId xmlns:a16="http://schemas.microsoft.com/office/drawing/2014/main" id="{2E0295A1-3AEC-1EA2-58F1-FD4A8C06D639}"/>
              </a:ext>
            </a:extLst>
          </p:cNvPr>
          <p:cNvPicPr preferRelativeResize="0"/>
          <p:nvPr/>
        </p:nvPicPr>
        <p:blipFill>
          <a:blip r:embed="rId3"/>
          <a:srcRect/>
          <a:stretch/>
        </p:blipFill>
        <p:spPr>
          <a:xfrm>
            <a:off x="9010943" y="6291124"/>
            <a:ext cx="1362250" cy="365125"/>
          </a:xfrm>
          <a:prstGeom prst="rect">
            <a:avLst/>
          </a:prstGeom>
          <a:noFill/>
          <a:ln>
            <a:noFill/>
          </a:ln>
        </p:spPr>
      </p:pic>
      <p:sp>
        <p:nvSpPr>
          <p:cNvPr id="3" name="TextBox 2">
            <a:extLst>
              <a:ext uri="{FF2B5EF4-FFF2-40B4-BE49-F238E27FC236}">
                <a16:creationId xmlns:a16="http://schemas.microsoft.com/office/drawing/2014/main" id="{A97E9334-83CE-BA18-B4FD-283B8B6CF9B0}"/>
              </a:ext>
            </a:extLst>
          </p:cNvPr>
          <p:cNvSpPr txBox="1"/>
          <p:nvPr/>
        </p:nvSpPr>
        <p:spPr>
          <a:xfrm>
            <a:off x="3164703" y="2459504"/>
            <a:ext cx="5704332" cy="1938992"/>
          </a:xfrm>
          <a:prstGeom prst="rect">
            <a:avLst/>
          </a:prstGeom>
          <a:noFill/>
        </p:spPr>
        <p:txBody>
          <a:bodyPr wrap="square" rtlCol="0">
            <a:spAutoFit/>
          </a:bodyPr>
          <a:lstStyle/>
          <a:p>
            <a:r>
              <a:rPr lang="en-US" sz="2000" b="1" dirty="0"/>
              <a:t>SQL:</a:t>
            </a:r>
            <a:r>
              <a:rPr lang="en-US" sz="2000" dirty="0"/>
              <a:t> transformations, joins, cleaning</a:t>
            </a:r>
          </a:p>
          <a:p>
            <a:r>
              <a:rPr lang="en-US" sz="2000" b="1" dirty="0"/>
              <a:t>Power Query:</a:t>
            </a:r>
            <a:r>
              <a:rPr lang="en-US" sz="2000" dirty="0"/>
              <a:t> calculated columns, data shaping</a:t>
            </a:r>
          </a:p>
          <a:p>
            <a:r>
              <a:rPr lang="en-US" sz="2000" b="1" dirty="0"/>
              <a:t>DAX:</a:t>
            </a:r>
            <a:r>
              <a:rPr lang="en-US" sz="2000" dirty="0"/>
              <a:t> KPI measures, time intelligence, targets</a:t>
            </a:r>
          </a:p>
          <a:p>
            <a:r>
              <a:rPr lang="en-US" sz="2000" b="1" dirty="0"/>
              <a:t>Power BI Desktop + Service:</a:t>
            </a:r>
            <a:r>
              <a:rPr lang="en-US" sz="2000" dirty="0"/>
              <a:t> main dashboard</a:t>
            </a:r>
          </a:p>
          <a:p>
            <a:r>
              <a:rPr lang="en-US" sz="2000" b="1" dirty="0"/>
              <a:t>Tableau:</a:t>
            </a:r>
            <a:r>
              <a:rPr lang="en-US" sz="2000" dirty="0"/>
              <a:t> summary dashboard</a:t>
            </a:r>
          </a:p>
          <a:p>
            <a:r>
              <a:rPr lang="en-US" sz="2000" b="1" dirty="0"/>
              <a:t>Other Tools:</a:t>
            </a:r>
            <a:r>
              <a:rPr lang="en-US" sz="2000" dirty="0"/>
              <a:t> Canva, </a:t>
            </a:r>
            <a:r>
              <a:rPr lang="en-US" sz="2000" dirty="0" err="1"/>
              <a:t>Flaticon</a:t>
            </a:r>
            <a:r>
              <a:rPr lang="en-US" sz="2000" dirty="0"/>
              <a:t> icons, Draw.io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11/30/25</a:t>
            </a:r>
          </a:p>
        </p:txBody>
      </p:sp>
      <p:sp>
        <p:nvSpPr>
          <p:cNvPr id="224" name="Google Shape;224;p12"/>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8</a:t>
            </a:r>
            <a:endParaRPr dirty="0"/>
          </a:p>
        </p:txBody>
      </p:sp>
      <p:sp>
        <p:nvSpPr>
          <p:cNvPr id="225" name="Google Shape;225;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pic>
        <p:nvPicPr>
          <p:cNvPr id="2" name="Google Shape;110;p1">
            <a:extLst>
              <a:ext uri="{FF2B5EF4-FFF2-40B4-BE49-F238E27FC236}">
                <a16:creationId xmlns:a16="http://schemas.microsoft.com/office/drawing/2014/main" id="{58C33320-60ED-A251-AB49-C1349DCD930A}"/>
              </a:ext>
            </a:extLst>
          </p:cNvPr>
          <p:cNvPicPr preferRelativeResize="0"/>
          <p:nvPr/>
        </p:nvPicPr>
        <p:blipFill>
          <a:blip r:embed="rId3"/>
          <a:srcRect/>
          <a:stretch/>
        </p:blipFill>
        <p:spPr>
          <a:xfrm>
            <a:off x="9010943" y="6291124"/>
            <a:ext cx="1362250" cy="365125"/>
          </a:xfrm>
          <a:prstGeom prst="rect">
            <a:avLst/>
          </a:prstGeom>
          <a:noFill/>
          <a:ln>
            <a:noFill/>
          </a:ln>
        </p:spPr>
      </p:pic>
      <p:sp>
        <p:nvSpPr>
          <p:cNvPr id="5" name="TextBox 4">
            <a:extLst>
              <a:ext uri="{FF2B5EF4-FFF2-40B4-BE49-F238E27FC236}">
                <a16:creationId xmlns:a16="http://schemas.microsoft.com/office/drawing/2014/main" id="{B8858EB6-FCE3-FF28-717D-71BA23FCCC11}"/>
              </a:ext>
            </a:extLst>
          </p:cNvPr>
          <p:cNvSpPr txBox="1"/>
          <p:nvPr/>
        </p:nvSpPr>
        <p:spPr>
          <a:xfrm>
            <a:off x="139826" y="1778348"/>
            <a:ext cx="9513687" cy="529504"/>
          </a:xfrm>
          <a:prstGeom prst="rect">
            <a:avLst/>
          </a:prstGeom>
          <a:noFill/>
        </p:spPr>
        <p:txBody>
          <a:bodyPr wrap="square">
            <a:spAutoFit/>
          </a:bodyPr>
          <a:lstStyle/>
          <a:p>
            <a:pPr marL="0" marR="0">
              <a:lnSpc>
                <a:spcPct val="150000"/>
              </a:lnSpc>
              <a:spcBef>
                <a:spcPts val="1200"/>
              </a:spcBef>
              <a:spcAft>
                <a:spcPts val="0"/>
              </a:spcAft>
            </a:pPr>
            <a:r>
              <a:rPr lang="en-US" sz="1100" b="1" kern="100" dirty="0">
                <a:solidFill>
                  <a:srgbClr val="1F3864"/>
                </a:solidFill>
                <a:effectLst/>
                <a:highlight>
                  <a:srgbClr val="FFFFFF"/>
                </a:highlight>
                <a:latin typeface="Calibri" panose="020F0502020204030204" pitchFamily="34" charset="0"/>
                <a:ea typeface="Calibri" panose="020F0502020204030204" pitchFamily="34" charset="0"/>
                <a:cs typeface="Arial" panose="020B0604020202020204" pitchFamily="34" charset="0"/>
              </a:rPr>
              <a:t>Week 1: Data Collection </a:t>
            </a:r>
            <a:endParaRPr lang="en-US" sz="1100" kern="1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a:lnSpc>
                <a:spcPct val="115000"/>
              </a:lnSpc>
              <a:spcBef>
                <a:spcPts val="0"/>
              </a:spcBef>
              <a:spcAft>
                <a:spcPts val="0"/>
              </a:spcAft>
            </a:pPr>
            <a:r>
              <a:rPr lang="en-US" sz="1100" u="sng" kern="100" dirty="0">
                <a:solidFill>
                  <a:srgbClr val="1F3864"/>
                </a:solidFill>
                <a:effectLst/>
                <a:highlight>
                  <a:srgbClr val="FFFFFF"/>
                </a:highlight>
                <a:latin typeface="Calibri" panose="020F0502020204030204" pitchFamily="34" charset="0"/>
                <a:ea typeface="Calibri" panose="020F0502020204030204" pitchFamily="34" charset="0"/>
                <a:cs typeface="Arial" panose="020B0604020202020204" pitchFamily="34" charset="0"/>
              </a:rPr>
              <a:t>Description</a:t>
            </a:r>
            <a:r>
              <a:rPr lang="en-US" sz="1100" kern="100" dirty="0">
                <a:solidFill>
                  <a:srgbClr val="1F3864"/>
                </a:solidFill>
                <a:effectLst/>
                <a:highlight>
                  <a:srgbClr val="FFFFFF"/>
                </a:highlight>
                <a:latin typeface="Calibri" panose="020F0502020204030204" pitchFamily="34" charset="0"/>
                <a:ea typeface="Calibri" panose="020F0502020204030204" pitchFamily="34" charset="0"/>
                <a:cs typeface="Arial" panose="020B0604020202020204" pitchFamily="34" charset="0"/>
              </a:rPr>
              <a:t>: Gathered all raw data related to products, orders, and customers from available sources. Ensured completeness and initial understanding of the dataset.</a:t>
            </a:r>
            <a:endParaRPr lang="en-US" sz="1100" kern="1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0C088696-0C3C-B437-56CF-96035602B19D}"/>
              </a:ext>
            </a:extLst>
          </p:cNvPr>
          <p:cNvSpPr txBox="1"/>
          <p:nvPr/>
        </p:nvSpPr>
        <p:spPr>
          <a:xfrm>
            <a:off x="139826" y="2373078"/>
            <a:ext cx="10874372" cy="724173"/>
          </a:xfrm>
          <a:prstGeom prst="rect">
            <a:avLst/>
          </a:prstGeom>
          <a:noFill/>
        </p:spPr>
        <p:txBody>
          <a:bodyPr wrap="square">
            <a:spAutoFit/>
          </a:bodyPr>
          <a:lstStyle/>
          <a:p>
            <a:pPr marL="0" marR="0">
              <a:lnSpc>
                <a:spcPct val="150000"/>
              </a:lnSpc>
              <a:spcBef>
                <a:spcPts val="1200"/>
              </a:spcBef>
              <a:spcAft>
                <a:spcPts val="0"/>
              </a:spcAft>
              <a:tabLst>
                <a:tab pos="914400" algn="ctr"/>
              </a:tabLst>
            </a:pPr>
            <a:r>
              <a:rPr lang="en-US" sz="1100" b="1" kern="100" dirty="0">
                <a:solidFill>
                  <a:srgbClr val="1F3864"/>
                </a:solidFill>
                <a:effectLst/>
                <a:highlight>
                  <a:srgbClr val="FFFFFF"/>
                </a:highlight>
                <a:latin typeface="Calibri" panose="020F0502020204030204" pitchFamily="34" charset="0"/>
                <a:ea typeface="Calibri" panose="020F0502020204030204" pitchFamily="34" charset="0"/>
                <a:cs typeface="Arial" panose="020B0604020202020204" pitchFamily="34" charset="0"/>
              </a:rPr>
              <a:t>Week 2: Data Cleaning Phase 1, Preparation, Database Design, Modelling, Data Warehouse Concept applied</a:t>
            </a:r>
            <a:endParaRPr lang="en-US" sz="1100" kern="1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a:lnSpc>
                <a:spcPct val="115000"/>
              </a:lnSpc>
              <a:spcBef>
                <a:spcPts val="0"/>
              </a:spcBef>
              <a:spcAft>
                <a:spcPts val="0"/>
              </a:spcAft>
              <a:tabLst>
                <a:tab pos="914400" algn="ctr"/>
              </a:tabLst>
            </a:pPr>
            <a:r>
              <a:rPr lang="en-US" sz="1100" u="sng" kern="100" dirty="0">
                <a:solidFill>
                  <a:srgbClr val="1F3864"/>
                </a:solidFill>
                <a:effectLst/>
                <a:highlight>
                  <a:srgbClr val="FFFFFF"/>
                </a:highlight>
                <a:latin typeface="Calibri" panose="020F0502020204030204" pitchFamily="34" charset="0"/>
                <a:ea typeface="Calibri" panose="020F0502020204030204" pitchFamily="34" charset="0"/>
                <a:cs typeface="Arial" panose="020B0604020202020204" pitchFamily="34" charset="0"/>
              </a:rPr>
              <a:t>Description</a:t>
            </a:r>
            <a:r>
              <a:rPr lang="en-US" sz="1100" kern="100" dirty="0">
                <a:solidFill>
                  <a:srgbClr val="1F3864"/>
                </a:solidFill>
                <a:effectLst/>
                <a:highlight>
                  <a:srgbClr val="FFFFFF"/>
                </a:highlight>
                <a:latin typeface="Calibri" panose="020F0502020204030204" pitchFamily="34" charset="0"/>
                <a:ea typeface="Calibri" panose="020F0502020204030204" pitchFamily="34" charset="0"/>
                <a:cs typeface="Arial" panose="020B0604020202020204" pitchFamily="34" charset="0"/>
              </a:rPr>
              <a:t>: Cleaned and organized the collected data to ensure accuracy and consistency. Designed the Entity Relationship Diagram (ERD) and database schema, then converted the database into a data warehouse structure by dividing it into fact and dimension tables to support analytical queries and performance optimization.</a:t>
            </a:r>
            <a:endParaRPr lang="en-US" sz="1100" kern="1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p:txBody>
      </p:sp>
      <p:sp>
        <p:nvSpPr>
          <p:cNvPr id="9" name="TextBox 8">
            <a:extLst>
              <a:ext uri="{FF2B5EF4-FFF2-40B4-BE49-F238E27FC236}">
                <a16:creationId xmlns:a16="http://schemas.microsoft.com/office/drawing/2014/main" id="{29317599-916C-0194-B466-4CFCF70CAE91}"/>
              </a:ext>
            </a:extLst>
          </p:cNvPr>
          <p:cNvSpPr txBox="1"/>
          <p:nvPr/>
        </p:nvSpPr>
        <p:spPr>
          <a:xfrm>
            <a:off x="139826" y="3171115"/>
            <a:ext cx="10874372" cy="958147"/>
          </a:xfrm>
          <a:prstGeom prst="rect">
            <a:avLst/>
          </a:prstGeom>
          <a:noFill/>
        </p:spPr>
        <p:txBody>
          <a:bodyPr wrap="square">
            <a:spAutoFit/>
          </a:bodyPr>
          <a:lstStyle/>
          <a:p>
            <a:pPr marL="0" marR="0">
              <a:lnSpc>
                <a:spcPct val="150000"/>
              </a:lnSpc>
              <a:spcBef>
                <a:spcPts val="0"/>
              </a:spcBef>
              <a:spcAft>
                <a:spcPts val="0"/>
              </a:spcAft>
            </a:pPr>
            <a:r>
              <a:rPr lang="en-US" sz="1100" b="1" kern="100" dirty="0">
                <a:solidFill>
                  <a:srgbClr val="1F3864"/>
                </a:solidFill>
                <a:effectLst/>
                <a:highlight>
                  <a:srgbClr val="FFFFFF"/>
                </a:highlight>
                <a:latin typeface="Calibri" panose="020F0502020204030204" pitchFamily="34" charset="0"/>
                <a:ea typeface="Calibri" panose="020F0502020204030204" pitchFamily="34" charset="0"/>
                <a:cs typeface="Arial" panose="020B0604020202020204" pitchFamily="34" charset="0"/>
              </a:rPr>
              <a:t>Week 3: Exploratory Data Analysis (EDA), Advanced Analysis &amp; Insights Extraction</a:t>
            </a:r>
            <a:endParaRPr lang="en-US" sz="1100" kern="1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a:lnSpc>
                <a:spcPct val="115000"/>
              </a:lnSpc>
              <a:spcBef>
                <a:spcPts val="0"/>
              </a:spcBef>
              <a:spcAft>
                <a:spcPts val="0"/>
              </a:spcAft>
            </a:pPr>
            <a:r>
              <a:rPr lang="en-US" sz="1100" u="sng" kern="100" dirty="0">
                <a:solidFill>
                  <a:srgbClr val="1F3864"/>
                </a:solidFill>
                <a:effectLst/>
                <a:highlight>
                  <a:srgbClr val="FFFFFF"/>
                </a:highlight>
                <a:latin typeface="Calibri" panose="020F0502020204030204" pitchFamily="34" charset="0"/>
                <a:ea typeface="Calibri" panose="020F0502020204030204" pitchFamily="34" charset="0"/>
                <a:cs typeface="Arial" panose="020B0604020202020204" pitchFamily="34" charset="0"/>
              </a:rPr>
              <a:t>Description:</a:t>
            </a:r>
            <a:r>
              <a:rPr lang="en-US" sz="1100" kern="100" dirty="0">
                <a:solidFill>
                  <a:srgbClr val="1F3864"/>
                </a:solidFill>
                <a:effectLst/>
                <a:highlight>
                  <a:srgbClr val="FFFFFF"/>
                </a:highlight>
                <a:latin typeface="Calibri" panose="020F0502020204030204" pitchFamily="34" charset="0"/>
                <a:ea typeface="Calibri" panose="020F0502020204030204" pitchFamily="34" charset="0"/>
                <a:cs typeface="Arial" panose="020B0604020202020204" pitchFamily="34" charset="0"/>
              </a:rPr>
              <a:t> Conducted exploratory and advanced analysis to uncover deep insights about product sales, customer segments, and profitability patterns. Applied advanced analytical techniques such as correlation analysis and performance comparison to identify key business drivers and opportunities for profit growth.</a:t>
            </a:r>
            <a:endParaRPr lang="en-US" sz="1100" kern="1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a:lnSpc>
                <a:spcPct val="150000"/>
              </a:lnSpc>
              <a:spcBef>
                <a:spcPts val="0"/>
              </a:spcBef>
              <a:spcAft>
                <a:spcPts val="0"/>
              </a:spcAft>
            </a:pPr>
            <a:endParaRPr lang="en-US" sz="1100" dirty="0"/>
          </a:p>
        </p:txBody>
      </p:sp>
      <p:sp>
        <p:nvSpPr>
          <p:cNvPr id="11" name="TextBox 10">
            <a:extLst>
              <a:ext uri="{FF2B5EF4-FFF2-40B4-BE49-F238E27FC236}">
                <a16:creationId xmlns:a16="http://schemas.microsoft.com/office/drawing/2014/main" id="{E0FDA053-5528-BF66-17CA-B48CD6CB7F9A}"/>
              </a:ext>
            </a:extLst>
          </p:cNvPr>
          <p:cNvSpPr txBox="1"/>
          <p:nvPr/>
        </p:nvSpPr>
        <p:spPr>
          <a:xfrm>
            <a:off x="139826" y="3934483"/>
            <a:ext cx="11985118" cy="918841"/>
          </a:xfrm>
          <a:prstGeom prst="rect">
            <a:avLst/>
          </a:prstGeom>
          <a:noFill/>
        </p:spPr>
        <p:txBody>
          <a:bodyPr wrap="square">
            <a:spAutoFit/>
          </a:bodyPr>
          <a:lstStyle/>
          <a:p>
            <a:pPr marL="0" marR="0">
              <a:lnSpc>
                <a:spcPct val="150000"/>
              </a:lnSpc>
              <a:spcBef>
                <a:spcPts val="0"/>
              </a:spcBef>
              <a:spcAft>
                <a:spcPts val="0"/>
              </a:spcAft>
            </a:pPr>
            <a:r>
              <a:rPr lang="en-US" sz="1100" b="1" kern="100" dirty="0">
                <a:solidFill>
                  <a:srgbClr val="1F3864"/>
                </a:solidFill>
                <a:effectLst/>
                <a:highlight>
                  <a:srgbClr val="FFFFFF"/>
                </a:highlight>
                <a:latin typeface="Calibri" panose="020F0502020204030204" pitchFamily="34" charset="0"/>
                <a:ea typeface="Calibri" panose="020F0502020204030204" pitchFamily="34" charset="0"/>
                <a:cs typeface="Arial" panose="020B0604020202020204" pitchFamily="34" charset="0"/>
              </a:rPr>
              <a:t>Week 4: Visualization and Dashboard Development (Phase 1)</a:t>
            </a:r>
            <a:endParaRPr lang="en-US" sz="1100" kern="1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a:lnSpc>
                <a:spcPct val="115000"/>
              </a:lnSpc>
              <a:spcBef>
                <a:spcPts val="0"/>
              </a:spcBef>
              <a:spcAft>
                <a:spcPts val="0"/>
              </a:spcAft>
            </a:pPr>
            <a:r>
              <a:rPr lang="en-US" sz="1100" u="sng" kern="100" dirty="0">
                <a:solidFill>
                  <a:srgbClr val="1F3864"/>
                </a:solidFill>
                <a:effectLst/>
                <a:highlight>
                  <a:srgbClr val="FFFFFF"/>
                </a:highlight>
                <a:latin typeface="Calibri" panose="020F0502020204030204" pitchFamily="34" charset="0"/>
                <a:ea typeface="Calibri" panose="020F0502020204030204" pitchFamily="34" charset="0"/>
                <a:cs typeface="Arial" panose="020B0604020202020204" pitchFamily="34" charset="0"/>
              </a:rPr>
              <a:t>Description</a:t>
            </a:r>
            <a:r>
              <a:rPr lang="en-US" sz="1100" kern="100" dirty="0">
                <a:solidFill>
                  <a:srgbClr val="1F3864"/>
                </a:solidFill>
                <a:effectLst/>
                <a:highlight>
                  <a:srgbClr val="FFFFFF"/>
                </a:highlight>
                <a:latin typeface="Calibri" panose="020F0502020204030204" pitchFamily="34" charset="0"/>
                <a:ea typeface="Calibri" panose="020F0502020204030204" pitchFamily="34" charset="0"/>
                <a:cs typeface="Arial" panose="020B0604020202020204" pitchFamily="34" charset="0"/>
              </a:rPr>
              <a:t>: After making a revision on the cleaned data and managed to complete the cleaning process on “Power Query Editor” , we made a chart for each question to answer it (story telling technique) by making a measure for each insight and use these measures in the charts to show important data and answer the questions, also we planned the ideas of the structure of pages of the dashboard layout and implement the overall dashboard design.</a:t>
            </a:r>
            <a:endParaRPr lang="en-US" sz="1100" kern="1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75EB9DD8-172E-1419-D962-54B1DA7DA9B4}"/>
              </a:ext>
            </a:extLst>
          </p:cNvPr>
          <p:cNvSpPr txBox="1"/>
          <p:nvPr/>
        </p:nvSpPr>
        <p:spPr>
          <a:xfrm>
            <a:off x="139826" y="4915192"/>
            <a:ext cx="11738230" cy="529504"/>
          </a:xfrm>
          <a:prstGeom prst="rect">
            <a:avLst/>
          </a:prstGeom>
          <a:noFill/>
        </p:spPr>
        <p:txBody>
          <a:bodyPr wrap="square">
            <a:spAutoFit/>
          </a:bodyPr>
          <a:lstStyle/>
          <a:p>
            <a:pPr marL="0" marR="0">
              <a:lnSpc>
                <a:spcPct val="150000"/>
              </a:lnSpc>
              <a:spcBef>
                <a:spcPts val="0"/>
              </a:spcBef>
              <a:spcAft>
                <a:spcPts val="0"/>
              </a:spcAft>
            </a:pPr>
            <a:r>
              <a:rPr lang="en-US" sz="1100" b="1" kern="100" dirty="0">
                <a:solidFill>
                  <a:srgbClr val="1F3864"/>
                </a:solidFill>
                <a:effectLst/>
                <a:highlight>
                  <a:srgbClr val="FFFFFF"/>
                </a:highlight>
                <a:latin typeface="Calibri" panose="020F0502020204030204" pitchFamily="34" charset="0"/>
                <a:ea typeface="Calibri" panose="020F0502020204030204" pitchFamily="34" charset="0"/>
                <a:cs typeface="Arial" panose="020B0604020202020204" pitchFamily="34" charset="0"/>
              </a:rPr>
              <a:t>Week 5: Visualization Refinement and Report Writing (Phase 2)</a:t>
            </a:r>
            <a:endParaRPr lang="en-US" sz="1100" kern="1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a:lnSpc>
                <a:spcPct val="115000"/>
              </a:lnSpc>
              <a:spcBef>
                <a:spcPts val="0"/>
              </a:spcBef>
              <a:spcAft>
                <a:spcPts val="0"/>
              </a:spcAft>
            </a:pPr>
            <a:r>
              <a:rPr lang="en-US" sz="1100" u="sng" kern="100" dirty="0">
                <a:solidFill>
                  <a:srgbClr val="1F3864"/>
                </a:solidFill>
                <a:effectLst/>
                <a:highlight>
                  <a:srgbClr val="FFFFFF"/>
                </a:highlight>
                <a:latin typeface="Calibri" panose="020F0502020204030204" pitchFamily="34" charset="0"/>
                <a:ea typeface="Calibri" panose="020F0502020204030204" pitchFamily="34" charset="0"/>
                <a:cs typeface="Arial" panose="020B0604020202020204" pitchFamily="34" charset="0"/>
              </a:rPr>
              <a:t>Description</a:t>
            </a:r>
            <a:r>
              <a:rPr lang="en-US" sz="1100" kern="100" dirty="0">
                <a:solidFill>
                  <a:srgbClr val="1F3864"/>
                </a:solidFill>
                <a:effectLst/>
                <a:highlight>
                  <a:srgbClr val="FFFFFF"/>
                </a:highlight>
                <a:latin typeface="Calibri" panose="020F0502020204030204" pitchFamily="34" charset="0"/>
                <a:ea typeface="Calibri" panose="020F0502020204030204" pitchFamily="34" charset="0"/>
                <a:cs typeface="Arial" panose="020B0604020202020204" pitchFamily="34" charset="0"/>
              </a:rPr>
              <a:t>: Finalized all dashboards and visualizations, documented detailed findings, and prepared a comprehensive report summarizing insights and business recommendations. </a:t>
            </a:r>
            <a:endParaRPr lang="en-US" sz="1100" kern="1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6F868522-4C70-B399-6CF3-A6A96007BFDC}"/>
              </a:ext>
            </a:extLst>
          </p:cNvPr>
          <p:cNvSpPr txBox="1"/>
          <p:nvPr/>
        </p:nvSpPr>
        <p:spPr>
          <a:xfrm>
            <a:off x="139826" y="5505823"/>
            <a:ext cx="12052174" cy="724173"/>
          </a:xfrm>
          <a:prstGeom prst="rect">
            <a:avLst/>
          </a:prstGeom>
          <a:noFill/>
        </p:spPr>
        <p:txBody>
          <a:bodyPr wrap="square">
            <a:spAutoFit/>
          </a:bodyPr>
          <a:lstStyle/>
          <a:p>
            <a:pPr marL="0" marR="0">
              <a:lnSpc>
                <a:spcPct val="150000"/>
              </a:lnSpc>
              <a:spcBef>
                <a:spcPts val="0"/>
              </a:spcBef>
              <a:spcAft>
                <a:spcPts val="0"/>
              </a:spcAft>
            </a:pPr>
            <a:r>
              <a:rPr lang="en-US" sz="1100" b="1" kern="100" dirty="0">
                <a:solidFill>
                  <a:srgbClr val="1F3864"/>
                </a:solidFill>
                <a:effectLst/>
                <a:highlight>
                  <a:srgbClr val="FFFFFF"/>
                </a:highlight>
                <a:latin typeface="Calibri" panose="020F0502020204030204" pitchFamily="34" charset="0"/>
                <a:ea typeface="Calibri" panose="020F0502020204030204" pitchFamily="34" charset="0"/>
                <a:cs typeface="Arial" panose="020B0604020202020204" pitchFamily="34" charset="0"/>
              </a:rPr>
              <a:t>Week 6: Final Presentation and project Delivery</a:t>
            </a:r>
            <a:endParaRPr lang="en-US" sz="1100" kern="1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a:lnSpc>
                <a:spcPct val="115000"/>
              </a:lnSpc>
              <a:spcBef>
                <a:spcPts val="0"/>
              </a:spcBef>
              <a:spcAft>
                <a:spcPts val="0"/>
              </a:spcAft>
            </a:pPr>
            <a:r>
              <a:rPr lang="en-US" sz="1100" u="sng" kern="100" dirty="0">
                <a:solidFill>
                  <a:srgbClr val="1F3864"/>
                </a:solidFill>
                <a:effectLst/>
                <a:highlight>
                  <a:srgbClr val="FFFFFF"/>
                </a:highlight>
                <a:latin typeface="Calibri" panose="020F0502020204030204" pitchFamily="34" charset="0"/>
                <a:ea typeface="Calibri" panose="020F0502020204030204" pitchFamily="34" charset="0"/>
                <a:cs typeface="Arial" panose="020B0604020202020204" pitchFamily="34" charset="0"/>
              </a:rPr>
              <a:t>Description</a:t>
            </a:r>
            <a:r>
              <a:rPr lang="en-US" sz="1100" kern="100" dirty="0">
                <a:solidFill>
                  <a:srgbClr val="1F3864"/>
                </a:solidFill>
                <a:effectLst/>
                <a:highlight>
                  <a:srgbClr val="FFFFFF"/>
                </a:highlight>
                <a:latin typeface="Calibri" panose="020F0502020204030204" pitchFamily="34" charset="0"/>
                <a:ea typeface="Calibri" panose="020F0502020204030204" pitchFamily="34" charset="0"/>
                <a:cs typeface="Arial" panose="020B0604020202020204" pitchFamily="34" charset="0"/>
              </a:rPr>
              <a:t>: Presented the final project, including all analytical outputs, dashboards, and insights, SQL Queries Report Sheets, demonstrating how the analysis supports higher profit, efficiency, and smarter business decisions.</a:t>
            </a:r>
            <a:endParaRPr lang="en-US" sz="1100" kern="1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A0772077-E42D-5728-7424-4E20A2A943A8}"/>
              </a:ext>
            </a:extLst>
          </p:cNvPr>
          <p:cNvSpPr txBox="1"/>
          <p:nvPr/>
        </p:nvSpPr>
        <p:spPr>
          <a:xfrm>
            <a:off x="83693" y="1277674"/>
            <a:ext cx="1973707" cy="382092"/>
          </a:xfrm>
          <a:prstGeom prst="rect">
            <a:avLst/>
          </a:prstGeom>
          <a:noFill/>
        </p:spPr>
        <p:txBody>
          <a:bodyPr wrap="square">
            <a:spAutoFit/>
          </a:bodyPr>
          <a:lstStyle/>
          <a:p>
            <a:pPr marL="0" marR="0">
              <a:lnSpc>
                <a:spcPct val="150000"/>
              </a:lnSpc>
              <a:spcBef>
                <a:spcPts val="0"/>
              </a:spcBef>
              <a:spcAft>
                <a:spcPts val="0"/>
              </a:spcAft>
            </a:pPr>
            <a:r>
              <a:rPr lang="en-US" sz="1400" b="1" u="sng" kern="100" dirty="0">
                <a:solidFill>
                  <a:srgbClr val="0070C0"/>
                </a:solidFill>
                <a:effectLst/>
                <a:highlight>
                  <a:srgbClr val="FFFFFF"/>
                </a:highlight>
                <a:latin typeface="Calibri" panose="020F0502020204030204" pitchFamily="34" charset="0"/>
                <a:ea typeface="Calibri" panose="020F0502020204030204" pitchFamily="34" charset="0"/>
                <a:cs typeface="Arial" panose="020B0604020202020204" pitchFamily="34" charset="0"/>
              </a:rPr>
              <a:t>Milestones &amp; Deadlines</a:t>
            </a:r>
            <a:endParaRPr lang="en-US" sz="1400" kern="1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5CA23927-54C5-3B18-B10E-3B06C752C292}"/>
              </a:ext>
            </a:extLst>
          </p:cNvPr>
          <p:cNvSpPr txBox="1"/>
          <p:nvPr/>
        </p:nvSpPr>
        <p:spPr>
          <a:xfrm rot="19431457">
            <a:off x="1849756" y="954507"/>
            <a:ext cx="720090" cy="646331"/>
          </a:xfrm>
          <a:prstGeom prst="rect">
            <a:avLst/>
          </a:prstGeom>
          <a:noFill/>
        </p:spPr>
        <p:txBody>
          <a:bodyPr wrap="square">
            <a:spAutoFit/>
          </a:bodyPr>
          <a:lstStyle/>
          <a:p>
            <a:r>
              <a:rPr lang="en-US" sz="3600" dirty="0"/>
              <a:t>→</a:t>
            </a:r>
          </a:p>
        </p:txBody>
      </p:sp>
      <p:sp>
        <p:nvSpPr>
          <p:cNvPr id="20" name="TextBox 19">
            <a:extLst>
              <a:ext uri="{FF2B5EF4-FFF2-40B4-BE49-F238E27FC236}">
                <a16:creationId xmlns:a16="http://schemas.microsoft.com/office/drawing/2014/main" id="{E540EE03-5B93-CE81-05E1-173F0E9CC059}"/>
              </a:ext>
            </a:extLst>
          </p:cNvPr>
          <p:cNvSpPr txBox="1"/>
          <p:nvPr/>
        </p:nvSpPr>
        <p:spPr>
          <a:xfrm>
            <a:off x="2381210" y="990433"/>
            <a:ext cx="2776005" cy="307777"/>
          </a:xfrm>
          <a:prstGeom prst="rect">
            <a:avLst/>
          </a:prstGeom>
          <a:noFill/>
        </p:spPr>
        <p:txBody>
          <a:bodyPr wrap="square" rtlCol="0">
            <a:spAutoFit/>
          </a:bodyPr>
          <a:lstStyle/>
          <a:p>
            <a:r>
              <a:rPr lang="en-US" kern="100" dirty="0">
                <a:solidFill>
                  <a:srgbClr val="1F3864"/>
                </a:solidFill>
                <a:highlight>
                  <a:srgbClr val="FFFFFF"/>
                </a:highlight>
                <a:latin typeface="Calibri" panose="020F0502020204030204" pitchFamily="34" charset="0"/>
                <a:ea typeface="Calibri" panose="020F0502020204030204" pitchFamily="34" charset="0"/>
                <a:cs typeface="Arial" panose="020B0604020202020204" pitchFamily="34" charset="0"/>
                <a:hlinkClick r:id="rId4"/>
              </a:rPr>
              <a:t>Click Here To Open Live Project Link</a:t>
            </a:r>
            <a:endParaRPr lang="en-US" kern="100" dirty="0">
              <a:solidFill>
                <a:srgbClr val="1F3864"/>
              </a:solidFill>
              <a:highlight>
                <a:srgbClr val="FFFFFF"/>
              </a:highligh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761897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11/30/25</a:t>
            </a:r>
          </a:p>
        </p:txBody>
      </p:sp>
      <p:sp>
        <p:nvSpPr>
          <p:cNvPr id="224" name="Google Shape;224;p12"/>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9</a:t>
            </a:r>
            <a:endParaRPr dirty="0"/>
          </a:p>
        </p:txBody>
      </p:sp>
      <p:sp>
        <p:nvSpPr>
          <p:cNvPr id="225" name="Google Shape;225;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pic>
        <p:nvPicPr>
          <p:cNvPr id="2" name="Google Shape;110;p1">
            <a:extLst>
              <a:ext uri="{FF2B5EF4-FFF2-40B4-BE49-F238E27FC236}">
                <a16:creationId xmlns:a16="http://schemas.microsoft.com/office/drawing/2014/main" id="{58C33320-60ED-A251-AB49-C1349DCD930A}"/>
              </a:ext>
            </a:extLst>
          </p:cNvPr>
          <p:cNvPicPr preferRelativeResize="0"/>
          <p:nvPr/>
        </p:nvPicPr>
        <p:blipFill>
          <a:blip r:embed="rId3"/>
          <a:srcRect/>
          <a:stretch/>
        </p:blipFill>
        <p:spPr>
          <a:xfrm>
            <a:off x="9010943" y="6291124"/>
            <a:ext cx="1362250" cy="365125"/>
          </a:xfrm>
          <a:prstGeom prst="rect">
            <a:avLst/>
          </a:prstGeom>
          <a:noFill/>
          <a:ln>
            <a:noFill/>
          </a:ln>
        </p:spPr>
      </p:pic>
      <p:sp>
        <p:nvSpPr>
          <p:cNvPr id="3" name="TextBox 2">
            <a:extLst>
              <a:ext uri="{FF2B5EF4-FFF2-40B4-BE49-F238E27FC236}">
                <a16:creationId xmlns:a16="http://schemas.microsoft.com/office/drawing/2014/main" id="{797B267B-C620-E63D-F9A5-3D08068BA10F}"/>
              </a:ext>
            </a:extLst>
          </p:cNvPr>
          <p:cNvSpPr txBox="1"/>
          <p:nvPr/>
        </p:nvSpPr>
        <p:spPr>
          <a:xfrm>
            <a:off x="1832023" y="569613"/>
            <a:ext cx="8369691" cy="981807"/>
          </a:xfrm>
          <a:prstGeom prst="rect">
            <a:avLst/>
          </a:prstGeom>
          <a:noFill/>
        </p:spPr>
        <p:txBody>
          <a:bodyPr wrap="square" rtlCol="0">
            <a:spAutoFit/>
          </a:bodyPr>
          <a:lstStyle/>
          <a:p>
            <a:pPr marL="0" marR="0" algn="ctr">
              <a:lnSpc>
                <a:spcPct val="115000"/>
              </a:lnSpc>
              <a:spcBef>
                <a:spcPts val="0"/>
              </a:spcBef>
            </a:pPr>
            <a:r>
              <a:rPr lang="en-US" sz="1200" b="1" u="sng" dirty="0">
                <a:solidFill>
                  <a:srgbClr val="00468C"/>
                </a:solidFill>
                <a:effectLst/>
                <a:latin typeface="Cambria" panose="02040503050406030204" pitchFamily="18" charset="0"/>
                <a:ea typeface="MS Mincho" panose="02020609040205080304" pitchFamily="49" charset="-128"/>
                <a:cs typeface="Arial" panose="020B0604020202020204" pitchFamily="34" charset="0"/>
              </a:rPr>
              <a:t>Maged Magdy (Team Leader):</a:t>
            </a:r>
            <a:endParaRPr lang="en-US" sz="1200" b="1" u="sng" dirty="0">
              <a:effectLst/>
              <a:latin typeface="Cambria" panose="02040503050406030204" pitchFamily="18" charset="0"/>
              <a:ea typeface="MS Mincho" panose="02020609040205080304" pitchFamily="49" charset="-128"/>
              <a:cs typeface="Arial" panose="020B0604020202020204" pitchFamily="34" charset="0"/>
            </a:endParaRPr>
          </a:p>
          <a:p>
            <a:pPr algn="ctr"/>
            <a:r>
              <a:rPr lang="en-US" sz="1100" dirty="0"/>
              <a:t>Led the full project lifecycle from data collection to dashboard deployment. Designed the overall UI/UX theme, color palette, and visual identity at the start. Built the Menu page, added all navigation buttons, selections, and bookmarks, and ensured consistent formatting across all pages. Reviewed and refined each team member’s work, guaranteeing quality, accuracy, and style alignment before merging everything into one unified, professional dashboard.</a:t>
            </a:r>
            <a:endParaRPr lang="en-US" sz="1000" dirty="0"/>
          </a:p>
        </p:txBody>
      </p:sp>
      <p:sp>
        <p:nvSpPr>
          <p:cNvPr id="9" name="TextBox 8">
            <a:extLst>
              <a:ext uri="{FF2B5EF4-FFF2-40B4-BE49-F238E27FC236}">
                <a16:creationId xmlns:a16="http://schemas.microsoft.com/office/drawing/2014/main" id="{D2AD1CA8-16C2-849E-1DBC-7872BBE123C5}"/>
              </a:ext>
            </a:extLst>
          </p:cNvPr>
          <p:cNvSpPr txBox="1"/>
          <p:nvPr/>
        </p:nvSpPr>
        <p:spPr>
          <a:xfrm>
            <a:off x="2808789" y="3582422"/>
            <a:ext cx="6574420" cy="612475"/>
          </a:xfrm>
          <a:prstGeom prst="rect">
            <a:avLst/>
          </a:prstGeom>
          <a:noFill/>
        </p:spPr>
        <p:txBody>
          <a:bodyPr wrap="square" rtlCol="0">
            <a:spAutoFit/>
          </a:bodyPr>
          <a:lstStyle/>
          <a:p>
            <a:pPr algn="ctr">
              <a:lnSpc>
                <a:spcPct val="115000"/>
              </a:lnSpc>
            </a:pPr>
            <a:r>
              <a:rPr lang="en-US" sz="1200" b="1" u="sng" dirty="0">
                <a:solidFill>
                  <a:srgbClr val="00468C"/>
                </a:solidFill>
                <a:latin typeface="Cambria" panose="02040503050406030204" pitchFamily="18" charset="0"/>
                <a:ea typeface="MS Mincho" panose="02020609040205080304" pitchFamily="49" charset="-128"/>
                <a:cs typeface="Arial" panose="020B0604020202020204" pitchFamily="34" charset="0"/>
              </a:rPr>
              <a:t>Marly</a:t>
            </a:r>
          </a:p>
          <a:p>
            <a:pPr algn="ctr"/>
            <a:r>
              <a:rPr lang="en-US" sz="1000" dirty="0"/>
              <a:t>Led SQL-based data cleaning and ensured dataset accuracy. Supported model refinement and visual reviews. Developed the </a:t>
            </a:r>
            <a:r>
              <a:rPr lang="en-US" sz="1000" b="1" dirty="0"/>
              <a:t>Products page</a:t>
            </a:r>
            <a:r>
              <a:rPr lang="en-US" sz="1000" dirty="0"/>
              <a:t>, delivering detailed analysis of product performance and category trends.</a:t>
            </a:r>
          </a:p>
        </p:txBody>
      </p:sp>
      <p:sp>
        <p:nvSpPr>
          <p:cNvPr id="10" name="TextBox 9">
            <a:extLst>
              <a:ext uri="{FF2B5EF4-FFF2-40B4-BE49-F238E27FC236}">
                <a16:creationId xmlns:a16="http://schemas.microsoft.com/office/drawing/2014/main" id="{6CB479E8-D285-2875-6571-67EC8D1E8330}"/>
              </a:ext>
            </a:extLst>
          </p:cNvPr>
          <p:cNvSpPr txBox="1"/>
          <p:nvPr/>
        </p:nvSpPr>
        <p:spPr>
          <a:xfrm>
            <a:off x="2621337" y="4474709"/>
            <a:ext cx="6949323" cy="674031"/>
          </a:xfrm>
          <a:prstGeom prst="rect">
            <a:avLst/>
          </a:prstGeom>
          <a:noFill/>
        </p:spPr>
        <p:txBody>
          <a:bodyPr wrap="square" rtlCol="0">
            <a:spAutoFit/>
          </a:bodyPr>
          <a:lstStyle/>
          <a:p>
            <a:pPr algn="ctr">
              <a:lnSpc>
                <a:spcPct val="115000"/>
              </a:lnSpc>
            </a:pPr>
            <a:r>
              <a:rPr lang="en-US" sz="1200" b="1" u="sng" dirty="0">
                <a:solidFill>
                  <a:srgbClr val="00468C"/>
                </a:solidFill>
                <a:latin typeface="Cambria" panose="02040503050406030204" pitchFamily="18" charset="0"/>
                <a:ea typeface="MS Mincho" panose="02020609040205080304" pitchFamily="49" charset="-128"/>
                <a:cs typeface="Arial" panose="020B0604020202020204" pitchFamily="34" charset="0"/>
              </a:rPr>
              <a:t>Shehab</a:t>
            </a:r>
          </a:p>
          <a:p>
            <a:pPr algn="ctr"/>
            <a:r>
              <a:rPr lang="en-US" sz="1000" dirty="0"/>
              <a:t>Specialized in data modeling and DAX development. Created essential measures and logic for accurate KPIs and analysis. Developed the </a:t>
            </a:r>
            <a:r>
              <a:rPr lang="en-US" sz="1000" b="1" dirty="0"/>
              <a:t>Map page</a:t>
            </a:r>
            <a:r>
              <a:rPr lang="en-US" sz="1000" dirty="0"/>
              <a:t>, presenting geographic performance insights across regions</a:t>
            </a:r>
            <a:r>
              <a:rPr lang="en-US" dirty="0"/>
              <a:t>.</a:t>
            </a:r>
          </a:p>
        </p:txBody>
      </p:sp>
      <p:sp>
        <p:nvSpPr>
          <p:cNvPr id="11" name="TextBox 10">
            <a:extLst>
              <a:ext uri="{FF2B5EF4-FFF2-40B4-BE49-F238E27FC236}">
                <a16:creationId xmlns:a16="http://schemas.microsoft.com/office/drawing/2014/main" id="{C5B37736-0007-A945-6917-2063F714372A}"/>
              </a:ext>
            </a:extLst>
          </p:cNvPr>
          <p:cNvSpPr txBox="1"/>
          <p:nvPr/>
        </p:nvSpPr>
        <p:spPr>
          <a:xfrm>
            <a:off x="2173281" y="2634978"/>
            <a:ext cx="7845436" cy="674031"/>
          </a:xfrm>
          <a:prstGeom prst="rect">
            <a:avLst/>
          </a:prstGeom>
          <a:noFill/>
        </p:spPr>
        <p:txBody>
          <a:bodyPr wrap="square" rtlCol="0">
            <a:spAutoFit/>
          </a:bodyPr>
          <a:lstStyle/>
          <a:p>
            <a:pPr algn="ctr">
              <a:lnSpc>
                <a:spcPct val="115000"/>
              </a:lnSpc>
            </a:pPr>
            <a:r>
              <a:rPr lang="en-US" sz="1200" b="1" u="sng" dirty="0">
                <a:solidFill>
                  <a:srgbClr val="00468C"/>
                </a:solidFill>
                <a:latin typeface="Cambria" panose="02040503050406030204" pitchFamily="18" charset="0"/>
                <a:ea typeface="MS Mincho" panose="02020609040205080304" pitchFamily="49" charset="-128"/>
                <a:cs typeface="Arial" panose="020B0604020202020204" pitchFamily="34" charset="0"/>
              </a:rPr>
              <a:t>Ahmed</a:t>
            </a:r>
          </a:p>
          <a:p>
            <a:pPr algn="ctr"/>
            <a:r>
              <a:rPr lang="en-US" sz="1000" dirty="0"/>
              <a:t>Managed data collection and validation, ensuring the initial datasets were correct and ready for modeling. Provided continuous support in visualization and problem-solving. Developed the </a:t>
            </a:r>
            <a:r>
              <a:rPr lang="en-US" sz="1000" b="1" dirty="0"/>
              <a:t>Customers page</a:t>
            </a:r>
            <a:r>
              <a:rPr lang="en-US" sz="1000" dirty="0"/>
              <a:t>, focusing on customer segmentation and behavioral insights</a:t>
            </a:r>
            <a:r>
              <a:rPr lang="en-US" dirty="0"/>
              <a:t>.</a:t>
            </a:r>
          </a:p>
        </p:txBody>
      </p:sp>
      <p:sp>
        <p:nvSpPr>
          <p:cNvPr id="12" name="TextBox 11">
            <a:extLst>
              <a:ext uri="{FF2B5EF4-FFF2-40B4-BE49-F238E27FC236}">
                <a16:creationId xmlns:a16="http://schemas.microsoft.com/office/drawing/2014/main" id="{83D152BD-AB29-CE62-DD51-CF2D62ED1918}"/>
              </a:ext>
            </a:extLst>
          </p:cNvPr>
          <p:cNvSpPr txBox="1"/>
          <p:nvPr/>
        </p:nvSpPr>
        <p:spPr>
          <a:xfrm>
            <a:off x="2889136" y="5402508"/>
            <a:ext cx="6413724" cy="612475"/>
          </a:xfrm>
          <a:prstGeom prst="rect">
            <a:avLst/>
          </a:prstGeom>
          <a:noFill/>
        </p:spPr>
        <p:txBody>
          <a:bodyPr wrap="square" rtlCol="0">
            <a:spAutoFit/>
          </a:bodyPr>
          <a:lstStyle/>
          <a:p>
            <a:pPr algn="ctr">
              <a:lnSpc>
                <a:spcPct val="115000"/>
              </a:lnSpc>
            </a:pPr>
            <a:r>
              <a:rPr lang="en-US" sz="1200" b="1" u="sng" dirty="0">
                <a:solidFill>
                  <a:srgbClr val="00468C"/>
                </a:solidFill>
                <a:latin typeface="Cambria" panose="02040503050406030204" pitchFamily="18" charset="0"/>
                <a:ea typeface="MS Mincho" panose="02020609040205080304" pitchFamily="49" charset="-128"/>
                <a:cs typeface="Arial" panose="020B0604020202020204" pitchFamily="34" charset="0"/>
              </a:rPr>
              <a:t>Ali</a:t>
            </a:r>
          </a:p>
          <a:p>
            <a:pPr algn="ctr"/>
            <a:r>
              <a:rPr lang="en-US" sz="1000" dirty="0"/>
              <a:t>Provided consistent support in data validation, quality checking, and early issue detection. Assisted in reviewing and merging dashboard pages to ensure accuracy and completeness in the final report.</a:t>
            </a:r>
          </a:p>
        </p:txBody>
      </p:sp>
      <p:sp>
        <p:nvSpPr>
          <p:cNvPr id="13" name="TextBox 12">
            <a:extLst>
              <a:ext uri="{FF2B5EF4-FFF2-40B4-BE49-F238E27FC236}">
                <a16:creationId xmlns:a16="http://schemas.microsoft.com/office/drawing/2014/main" id="{C289F4AB-7E88-A912-9866-ED50A5ACB3EA}"/>
              </a:ext>
            </a:extLst>
          </p:cNvPr>
          <p:cNvSpPr txBox="1"/>
          <p:nvPr/>
        </p:nvSpPr>
        <p:spPr>
          <a:xfrm>
            <a:off x="2398834" y="1831885"/>
            <a:ext cx="7394331" cy="827919"/>
          </a:xfrm>
          <a:prstGeom prst="rect">
            <a:avLst/>
          </a:prstGeom>
          <a:noFill/>
        </p:spPr>
        <p:txBody>
          <a:bodyPr wrap="square" rtlCol="0">
            <a:spAutoFit/>
          </a:bodyPr>
          <a:lstStyle/>
          <a:p>
            <a:pPr algn="ctr">
              <a:lnSpc>
                <a:spcPct val="115000"/>
              </a:lnSpc>
            </a:pPr>
            <a:r>
              <a:rPr lang="en-US" sz="1200" b="1" u="sng" dirty="0">
                <a:solidFill>
                  <a:srgbClr val="00468C"/>
                </a:solidFill>
                <a:latin typeface="Cambria" panose="02040503050406030204" pitchFamily="18" charset="0"/>
                <a:ea typeface="MS Mincho" panose="02020609040205080304" pitchFamily="49" charset="-128"/>
                <a:cs typeface="Arial" panose="020B0604020202020204" pitchFamily="34" charset="0"/>
              </a:rPr>
              <a:t>Ibrahim</a:t>
            </a:r>
          </a:p>
          <a:p>
            <a:pPr algn="ctr"/>
            <a:r>
              <a:rPr lang="en-US" sz="1000" dirty="0"/>
              <a:t>Contributed to data cleaning and analytical exploration. Provided key insights from EDA and product-profitability analysis. Developed the </a:t>
            </a:r>
            <a:r>
              <a:rPr lang="en-US" sz="1000" b="1" dirty="0"/>
              <a:t>KPIs page</a:t>
            </a:r>
            <a:r>
              <a:rPr lang="en-US" sz="1000" dirty="0"/>
              <a:t> in the dashboard, turning essential performance metrics into clear, interactive visuals.</a:t>
            </a:r>
          </a:p>
          <a:p>
            <a:pPr algn="ctr"/>
            <a:endParaRPr lang="en-US" dirty="0"/>
          </a:p>
        </p:txBody>
      </p:sp>
    </p:spTree>
    <p:extLst>
      <p:ext uri="{BB962C8B-B14F-4D97-AF65-F5344CB8AC3E}">
        <p14:creationId xmlns:p14="http://schemas.microsoft.com/office/powerpoint/2010/main" val="15290493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11/30/25</a:t>
            </a:r>
          </a:p>
        </p:txBody>
      </p:sp>
      <p:sp>
        <p:nvSpPr>
          <p:cNvPr id="224" name="Google Shape;224;p12"/>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10</a:t>
            </a:r>
            <a:endParaRPr dirty="0"/>
          </a:p>
        </p:txBody>
      </p:sp>
      <p:sp>
        <p:nvSpPr>
          <p:cNvPr id="225" name="Google Shape;225;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pic>
        <p:nvPicPr>
          <p:cNvPr id="2" name="Google Shape;110;p1">
            <a:extLst>
              <a:ext uri="{FF2B5EF4-FFF2-40B4-BE49-F238E27FC236}">
                <a16:creationId xmlns:a16="http://schemas.microsoft.com/office/drawing/2014/main" id="{58C33320-60ED-A251-AB49-C1349DCD930A}"/>
              </a:ext>
            </a:extLst>
          </p:cNvPr>
          <p:cNvPicPr preferRelativeResize="0"/>
          <p:nvPr/>
        </p:nvPicPr>
        <p:blipFill>
          <a:blip r:embed="rId3"/>
          <a:srcRect/>
          <a:stretch/>
        </p:blipFill>
        <p:spPr>
          <a:xfrm>
            <a:off x="9010943" y="6291124"/>
            <a:ext cx="1362250" cy="365125"/>
          </a:xfrm>
          <a:prstGeom prst="rect">
            <a:avLst/>
          </a:prstGeom>
          <a:noFill/>
          <a:ln>
            <a:noFill/>
          </a:ln>
        </p:spPr>
      </p:pic>
      <p:sp>
        <p:nvSpPr>
          <p:cNvPr id="4" name="TextBox 3">
            <a:extLst>
              <a:ext uri="{FF2B5EF4-FFF2-40B4-BE49-F238E27FC236}">
                <a16:creationId xmlns:a16="http://schemas.microsoft.com/office/drawing/2014/main" id="{4BD175A6-B8AA-5C21-514E-6B135F2A40B9}"/>
              </a:ext>
            </a:extLst>
          </p:cNvPr>
          <p:cNvSpPr txBox="1"/>
          <p:nvPr/>
        </p:nvSpPr>
        <p:spPr>
          <a:xfrm>
            <a:off x="3265858" y="1900744"/>
            <a:ext cx="5502022" cy="1200329"/>
          </a:xfrm>
          <a:prstGeom prst="rect">
            <a:avLst/>
          </a:prstGeom>
          <a:noFill/>
        </p:spPr>
        <p:txBody>
          <a:bodyPr wrap="square">
            <a:spAutoFit/>
          </a:bodyPr>
          <a:lstStyle/>
          <a:p>
            <a:r>
              <a:rPr lang="en-US" sz="7200" b="1" u="sng" dirty="0">
                <a:solidFill>
                  <a:srgbClr val="00468C"/>
                </a:solidFill>
                <a:latin typeface="Cambria" panose="02040503050406030204" pitchFamily="18" charset="0"/>
                <a:ea typeface="MS Mincho" panose="02020609040205080304" pitchFamily="49" charset="-128"/>
                <a:cs typeface="Arial" panose="020B0604020202020204" pitchFamily="34" charset="0"/>
              </a:rPr>
              <a:t>Thank You </a:t>
            </a:r>
          </a:p>
        </p:txBody>
      </p:sp>
      <p:sp>
        <p:nvSpPr>
          <p:cNvPr id="6" name="TextBox 5">
            <a:extLst>
              <a:ext uri="{FF2B5EF4-FFF2-40B4-BE49-F238E27FC236}">
                <a16:creationId xmlns:a16="http://schemas.microsoft.com/office/drawing/2014/main" id="{19DEE8EF-C944-8E16-7874-8E5E653E4387}"/>
              </a:ext>
            </a:extLst>
          </p:cNvPr>
          <p:cNvSpPr txBox="1"/>
          <p:nvPr/>
        </p:nvSpPr>
        <p:spPr>
          <a:xfrm rot="5400000">
            <a:off x="5844275" y="2808686"/>
            <a:ext cx="345186" cy="584775"/>
          </a:xfrm>
          <a:prstGeom prst="rect">
            <a:avLst/>
          </a:prstGeom>
          <a:noFill/>
        </p:spPr>
        <p:txBody>
          <a:bodyPr wrap="square">
            <a:spAutoFit/>
          </a:bodyPr>
          <a:lstStyle/>
          <a:p>
            <a:r>
              <a:rPr lang="en-US" sz="3200" dirty="0">
                <a:solidFill>
                  <a:schemeClr val="accent1">
                    <a:lumMod val="75000"/>
                  </a:schemeClr>
                </a:solidFill>
              </a:rPr>
              <a:t>→</a:t>
            </a:r>
          </a:p>
        </p:txBody>
      </p:sp>
      <p:sp>
        <p:nvSpPr>
          <p:cNvPr id="8" name="TextBox 7">
            <a:extLst>
              <a:ext uri="{FF2B5EF4-FFF2-40B4-BE49-F238E27FC236}">
                <a16:creationId xmlns:a16="http://schemas.microsoft.com/office/drawing/2014/main" id="{EDC83958-3787-2811-4CEF-CC2642007F3B}"/>
              </a:ext>
            </a:extLst>
          </p:cNvPr>
          <p:cNvSpPr txBox="1"/>
          <p:nvPr/>
        </p:nvSpPr>
        <p:spPr>
          <a:xfrm>
            <a:off x="5057047" y="3541484"/>
            <a:ext cx="2504417" cy="430887"/>
          </a:xfrm>
          <a:prstGeom prst="rect">
            <a:avLst/>
          </a:prstGeom>
          <a:noFill/>
        </p:spPr>
        <p:txBody>
          <a:bodyPr wrap="square">
            <a:spAutoFit/>
          </a:bodyPr>
          <a:lstStyle/>
          <a:p>
            <a:r>
              <a:rPr lang="en-US" sz="1100" b="1" u="sng" dirty="0">
                <a:solidFill>
                  <a:srgbClr val="00468C"/>
                </a:solidFill>
                <a:latin typeface="Cambria" panose="02040503050406030204" pitchFamily="18" charset="0"/>
                <a:ea typeface="MS Mincho" panose="02020609040205080304" pitchFamily="49" charset="-128"/>
                <a:cs typeface="Arial" panose="020B0604020202020204" pitchFamily="34" charset="0"/>
              </a:rPr>
              <a:t>Gmail: </a:t>
            </a:r>
            <a:r>
              <a:rPr lang="en-US" sz="1100" b="1" u="sng" dirty="0">
                <a:solidFill>
                  <a:srgbClr val="00468C"/>
                </a:solidFill>
                <a:latin typeface="Cambria" panose="02040503050406030204" pitchFamily="18" charset="0"/>
                <a:ea typeface="MS Mincho" panose="02020609040205080304" pitchFamily="49" charset="-128"/>
                <a:cs typeface="Arial" panose="020B0604020202020204" pitchFamily="34" charset="0"/>
                <a:hlinkClick r:id="rId4">
                  <a:extLst>
                    <a:ext uri="{A12FA001-AC4F-418D-AE19-62706E023703}">
                      <ahyp:hlinkClr xmlns:ahyp="http://schemas.microsoft.com/office/drawing/2018/hyperlinkcolor" val="tx"/>
                    </a:ext>
                  </a:extLst>
                </a:hlinkClick>
              </a:rPr>
              <a:t>magedelias53@gmail.com</a:t>
            </a:r>
            <a:endParaRPr lang="en-US" sz="1100" b="1" u="sng" dirty="0">
              <a:solidFill>
                <a:srgbClr val="00468C"/>
              </a:solidFill>
              <a:latin typeface="Cambria" panose="02040503050406030204" pitchFamily="18" charset="0"/>
              <a:ea typeface="MS Mincho" panose="02020609040205080304" pitchFamily="49" charset="-128"/>
              <a:cs typeface="Arial" panose="020B0604020202020204" pitchFamily="34" charset="0"/>
            </a:endParaRPr>
          </a:p>
          <a:p>
            <a:r>
              <a:rPr lang="en-US" sz="1100" b="1" u="sng" dirty="0">
                <a:solidFill>
                  <a:srgbClr val="00468C"/>
                </a:solidFill>
                <a:latin typeface="Cambria" panose="02040503050406030204" pitchFamily="18" charset="0"/>
                <a:ea typeface="MS Mincho" panose="02020609040205080304" pitchFamily="49" charset="-128"/>
                <a:cs typeface="Arial" panose="020B0604020202020204" pitchFamily="34" charset="0"/>
              </a:rPr>
              <a:t>Phone: +20 1224637404</a:t>
            </a:r>
          </a:p>
        </p:txBody>
      </p:sp>
    </p:spTree>
    <p:extLst>
      <p:ext uri="{BB962C8B-B14F-4D97-AF65-F5344CB8AC3E}">
        <p14:creationId xmlns:p14="http://schemas.microsoft.com/office/powerpoint/2010/main" val="345788491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176</TotalTime>
  <Words>1387</Words>
  <Application>Microsoft Office PowerPoint</Application>
  <PresentationFormat>Widescreen</PresentationFormat>
  <Paragraphs>161</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Calibri</vt:lpstr>
      <vt:lpstr>Open Sans</vt:lpstr>
      <vt:lpstr>Cambria</vt:lpstr>
      <vt:lpstr>Arial</vt:lpstr>
      <vt:lpstr>Office Theme</vt:lpstr>
      <vt:lpstr>PowerPoint Presentation</vt:lpstr>
      <vt:lpstr>PowerPoint Presentation</vt:lpstr>
      <vt:lpstr>PowerPoint Presentation</vt:lpstr>
      <vt:lpstr>PowerPoint Presentation</vt:lpstr>
      <vt:lpstr>PowerPoint Presentation</vt:lpstr>
      <vt:lpstr>Hyper Tech – Data Analytics &amp; Business Intelligence Project</vt:lpstr>
      <vt:lpstr>Problem: Hyper Tech had no analytical system to monitor sales, customers, products, or returns.</vt:lpstr>
      <vt:lpstr>The dashboard uses a clean navigation flow: Menu → KPIs → Customers → Products → Map</vt:lpstr>
      <vt:lpstr>End Users: Hyper Tech Store Owner</vt:lpstr>
      <vt:lpstr>Data Warehouse uses a Star Schema</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SAMA</dc:creator>
  <cp:lastModifiedBy>Maged Elias</cp:lastModifiedBy>
  <cp:revision>6</cp:revision>
  <dcterms:created xsi:type="dcterms:W3CDTF">2024-03-14T10:03:54Z</dcterms:created>
  <dcterms:modified xsi:type="dcterms:W3CDTF">2025-11-30T00:57:44Z</dcterms:modified>
</cp:coreProperties>
</file>